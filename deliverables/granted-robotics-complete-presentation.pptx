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335c5163a3947ce" /><Relationship Type="http://schemas.openxmlformats.org/officeDocument/2006/relationships/extended-properties" Target="/docProps/app.xml" Id="R23a70e4b0c384b5f" /><Relationship Type="http://schemas.openxmlformats.org/officeDocument/2006/relationships/officeDocument" Target="/ppt/presentation.xml" Id="Rfd25b0252d5b477f" /></Relationships>
</file>

<file path=ppt/presentation.xml><?xml version="1.0" encoding="utf-8"?>
<p:presentation xmlns:p="http://schemas.openxmlformats.org/presentationml/2006/main">
  <p:sldMasterIdLst>
    <p:sldMasterId xmlns:r="http://schemas.openxmlformats.org/officeDocument/2006/relationships" id="2147483648" r:id="R8ced6f8c2eed4b24"/>
  </p:sldMasterIdLst>
  <p:notesMasterIdLst>
    <p:notesMasterId xmlns:r="http://schemas.openxmlformats.org/officeDocument/2006/relationships" r:id="R7e54477d3e194919"/>
  </p:notesMasterIdLst>
  <p:sldIdLst>
    <p:sldId xmlns:r="http://schemas.openxmlformats.org/officeDocument/2006/relationships" id="256" r:id="R1c43709b9a4d413a"/>
    <p:sldId xmlns:r="http://schemas.openxmlformats.org/officeDocument/2006/relationships" id="257" r:id="R094d819b440641b2"/>
    <p:sldId xmlns:r="http://schemas.openxmlformats.org/officeDocument/2006/relationships" id="258" r:id="R31f8b863e2fc4c3d"/>
    <p:sldId xmlns:r="http://schemas.openxmlformats.org/officeDocument/2006/relationships" id="259" r:id="R9b62d08fbdd74165"/>
    <p:sldId xmlns:r="http://schemas.openxmlformats.org/officeDocument/2006/relationships" id="260" r:id="R33a420af31d94a8b"/>
    <p:sldId xmlns:r="http://schemas.openxmlformats.org/officeDocument/2006/relationships" id="261" r:id="Rd38fec859b4f4240"/>
    <p:sldId xmlns:r="http://schemas.openxmlformats.org/officeDocument/2006/relationships" id="262" r:id="Re1a4801d5a0b4572"/>
    <p:sldId xmlns:r="http://schemas.openxmlformats.org/officeDocument/2006/relationships" id="263" r:id="R8bf22a7a51d54462"/>
    <p:sldId xmlns:r="http://schemas.openxmlformats.org/officeDocument/2006/relationships" id="264" r:id="R9145cc1b85a84b9b"/>
    <p:sldId xmlns:r="http://schemas.openxmlformats.org/officeDocument/2006/relationships" id="265" r:id="R6009e6ed63b44f06"/>
    <p:sldId xmlns:r="http://schemas.openxmlformats.org/officeDocument/2006/relationships" id="266" r:id="Rf4fc297a5f5c4440"/>
    <p:sldId xmlns:r="http://schemas.openxmlformats.org/officeDocument/2006/relationships" id="267" r:id="R999d7969c5bb4e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3bafc44f7f4fe0" /><Relationship Type="http://schemas.openxmlformats.org/officeDocument/2006/relationships/slideMaster" Target="/ppt/slideMasters/slideMaster1.xml" Id="R8ced6f8c2eed4b24" /><Relationship Type="http://schemas.openxmlformats.org/officeDocument/2006/relationships/notesMaster" Target="/ppt/notesMasters/notesMaster1.xml" Id="R7e54477d3e194919" /><Relationship Type="http://schemas.openxmlformats.org/officeDocument/2006/relationships/presProps" Target="/ppt/presProps.xml" Id="Rcf1b8bb60fa442f6" /><Relationship Type="http://schemas.openxmlformats.org/officeDocument/2006/relationships/tableStyles" Target="/ppt/tableStyles.xml" Id="Ree6ed5fa4ea84e9b" /><Relationship Type="http://schemas.openxmlformats.org/officeDocument/2006/relationships/slide" Target="/ppt/slides/slide1.xml" Id="R1c43709b9a4d413a" /><Relationship Type="http://schemas.openxmlformats.org/officeDocument/2006/relationships/slide" Target="/ppt/slides/slide2.xml" Id="R094d819b440641b2" /><Relationship Type="http://schemas.openxmlformats.org/officeDocument/2006/relationships/slide" Target="/ppt/slides/slide3.xml" Id="R31f8b863e2fc4c3d" /><Relationship Type="http://schemas.openxmlformats.org/officeDocument/2006/relationships/slide" Target="/ppt/slides/slide4.xml" Id="R9b62d08fbdd74165" /><Relationship Type="http://schemas.openxmlformats.org/officeDocument/2006/relationships/slide" Target="/ppt/slides/slide5.xml" Id="R33a420af31d94a8b" /><Relationship Type="http://schemas.openxmlformats.org/officeDocument/2006/relationships/slide" Target="/ppt/slides/slide6.xml" Id="Rd38fec859b4f4240" /><Relationship Type="http://schemas.openxmlformats.org/officeDocument/2006/relationships/slide" Target="/ppt/slides/slide7.xml" Id="Re1a4801d5a0b4572" /><Relationship Type="http://schemas.openxmlformats.org/officeDocument/2006/relationships/slide" Target="/ppt/slides/slide8.xml" Id="R8bf22a7a51d54462" /><Relationship Type="http://schemas.openxmlformats.org/officeDocument/2006/relationships/slide" Target="/ppt/slides/slide9.xml" Id="R9145cc1b85a84b9b" /><Relationship Type="http://schemas.openxmlformats.org/officeDocument/2006/relationships/slide" Target="/ppt/slides/slide10.xml" Id="R6009e6ed63b44f06" /><Relationship Type="http://schemas.openxmlformats.org/officeDocument/2006/relationships/slide" Target="/ppt/slides/slide11.xml" Id="Rf4fc297a5f5c4440" /><Relationship Type="http://schemas.openxmlformats.org/officeDocument/2006/relationships/slide" Target="/ppt/slides/slide12.xml" Id="R999d7969c5bb4e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9ae4ae25b449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0cf46d2c4a48ff" /><Relationship Type="http://schemas.openxmlformats.org/officeDocument/2006/relationships/notesMaster" Target="/ppt/notesMasters/notesMaster1.xml" Id="R65268739aefa4e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b23ef554be4895" /><Relationship Type="http://schemas.openxmlformats.org/officeDocument/2006/relationships/notesMaster" Target="/ppt/notesMasters/notesMaster1.xml" Id="R7808028eef8643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60bb592aee48ec" /><Relationship Type="http://schemas.openxmlformats.org/officeDocument/2006/relationships/notesMaster" Target="/ppt/notesMasters/notesMaster1.xml" Id="R365bc6bb233a40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ae626a50344b94" /><Relationship Type="http://schemas.openxmlformats.org/officeDocument/2006/relationships/notesMaster" Target="/ppt/notesMasters/notesMaster1.xml" Id="R81af8a70a6124d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b943056ee64ac7" /><Relationship Type="http://schemas.openxmlformats.org/officeDocument/2006/relationships/notesMaster" Target="/ppt/notesMasters/notesMaster1.xml" Id="Rd27bd57f221e44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32d350006440ed" /><Relationship Type="http://schemas.openxmlformats.org/officeDocument/2006/relationships/notesMaster" Target="/ppt/notesMasters/notesMaster1.xml" Id="R4f37bb249bc74a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9467168ba442db" /><Relationship Type="http://schemas.openxmlformats.org/officeDocument/2006/relationships/notesMaster" Target="/ppt/notesMasters/notesMaster1.xml" Id="Rc450be43059243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8412d002644e6e" /><Relationship Type="http://schemas.openxmlformats.org/officeDocument/2006/relationships/notesMaster" Target="/ppt/notesMasters/notesMaster1.xml" Id="Rc73342c1337b42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76a12514864aa5" /><Relationship Type="http://schemas.openxmlformats.org/officeDocument/2006/relationships/notesMaster" Target="/ppt/notesMasters/notesMaster1.xml" Id="R0a1d9cf322f449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344f9020b04eb0" /><Relationship Type="http://schemas.openxmlformats.org/officeDocument/2006/relationships/notesMaster" Target="/ppt/notesMasters/notesMaster1.xml" Id="R11050046d16d4c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6b436e8ed3495e" /><Relationship Type="http://schemas.openxmlformats.org/officeDocument/2006/relationships/notesMaster" Target="/ppt/notesMasters/notesMaster1.xml" Id="R0a0e5b2328cd48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5b0dccf7aa45c5" /><Relationship Type="http://schemas.openxmlformats.org/officeDocument/2006/relationships/notesMaster" Target="/ppt/notesMasters/notesMaster1.xml" Id="R8e10b7c8456441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robot setting a table looks impressive. But a moved cup or a failed grasp can break that plan. Granted Robotics makes the recovery inspectable. Created by Shivam Gupta, it combines a clear operator workbench with reproducible simulation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initial customer hypothesis is a robotics integrator. When a customer demonstration fails, engineers need to reproduce the fault, understand the intervention, and check whether a change improved the outcome. Granted puts that investigation into one readable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React workbench accepts a task and shows the evidence. A FastAPI service validates requests, then runs the MuJoCo fixture. Optional camera and language validation can approve only the supported contract. The controller and geometric monitor execute the task. Results include events and measured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camera image and instruction go to the constrained language validator. Separately, we trained a small joint target imitation policy on four hundred eighty inverse kinematics examples, with one hundred twenty held out. OpenVINO runs its proposals. Mandatory numerical correction remains part of control. This is not an end to end VLA.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actual MuJoCo rendering, separate from the browser illustration. Both SO101 arms move objects to predefined targets. An injected grip loss breaks the initial attempt. The controller detects the displaced object and follows a recovery path. Simplified grasp attachment and simulator state remain important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evaluated ten seeds in five conditions, for fifty runs. Nominal tasks and displaced object recovery completed all ten trials. Grip loss completed ten out of ten with recovery, and zero without it. All ten obstacle cases blocked execution. A safe stop is reported separately from task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per seed records make the result inspectable. Every grip loss recovery trial completed, but errors still vary by initial condition. The comparison shows mean cup error falling from about one hundred sixty millimeters to about fifteen. This is a small controlled benchmark, not generalization to new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OpenVINO runs both the geometric graph and the learned joint target policy. In ten recovery trials, learned proposals plus correction reduced average numerical iterations by five point three percent. Both approaches completed every trial. The learned policy median inference was thirty seven microseconds on Apple hardware. Intel validation remains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includes simulation assets, evaluation commands, a device benchmark, and tests. We map each judging category to its evidence and limitations. The largest gaps are trained policy reasoning, more complex complementary manipulation, and final Intel hardware execution. We do not hide those gaps behind a generic production ready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starts with a small paid pilot, not a market size claim. We would import one integrator task and its recurring failure cases. We would measure diagnosis time before and after. A five hundred dollar monthly workspace is a pricing test. At an assumed seventy five dollars an engineer hour, seven saved hours covers that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milestone is a policy that reasons directly over vision and language. We also need a richer dual arm task, broader randomization, and an Intel Core Ultra run. Before commercial use, the product needs durable tenant storage, workload controls, and operational monitoring. Hardware safety validation is a separate effort.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Granted Robotics makes the recovery part of the product. Review the workbench, replay the actual physics, and inspect the per seed records. The repository and demo are public. Created by Shivam Gupta for the AI Infra Summit 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bbf7df0b5142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234f70cf274f38" /><Relationship Type="http://schemas.openxmlformats.org/officeDocument/2006/relationships/slideLayout" Target="/ppt/slideLayouts/slideLayout1.xml" Id="R0fe0d306205e47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e0d306205e47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4e0060bd0e4bbc" /><Relationship Type="http://schemas.openxmlformats.org/officeDocument/2006/relationships/notesSlide" Target="/ppt/notesSlides/notesSlide1.xml" Id="R05a59f4968594b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85eb1e51e446cb" /><Relationship Type="http://schemas.openxmlformats.org/officeDocument/2006/relationships/notesSlide" Target="/ppt/notesSlides/notesSlide2.xml" Id="Rc4cee30c136646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ac8183ca855439e" /><Relationship Type="http://schemas.openxmlformats.org/officeDocument/2006/relationships/notesSlide" Target="/ppt/notesSlides/notesSlide3.xml" Id="Rfa0b1697ea7c44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01c9f464c6945df" /><Relationship Type="http://schemas.openxmlformats.org/officeDocument/2006/relationships/image" Target="/ppt/media/image.png" Id="Ree1c3f260eec48c7" /><Relationship Type="http://schemas.openxmlformats.org/officeDocument/2006/relationships/notesSlide" Target="/ppt/notesSlides/notesSlide4.xml" Id="R24b58330885a4c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2d16c6c88c46e5" /><Relationship Type="http://schemas.openxmlformats.org/officeDocument/2006/relationships/image" Target="/ppt/media/image2.png" Id="Rfe59bf66e5664d42" /><Relationship Type="http://schemas.openxmlformats.org/officeDocument/2006/relationships/notesSlide" Target="/ppt/notesSlides/notesSlide5.xml" Id="R2b8bc2c04f6a46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cc1f15814242de" /><Relationship Type="http://schemas.openxmlformats.org/officeDocument/2006/relationships/notesSlide" Target="/ppt/notesSlides/notesSlide6.xml" Id="Ra2268a4001ff4a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183c9f9b6643ef" /><Relationship Type="http://schemas.openxmlformats.org/officeDocument/2006/relationships/chart" Target="/ppt/slides/charts/chart1.xml" Id="R4cb1ebd2f53b4072" /><Relationship Type="http://schemas.openxmlformats.org/officeDocument/2006/relationships/notesSlide" Target="/ppt/notesSlides/notesSlide7.xml" Id="R6ddbeb2aa65b4c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4e9e9014a84fe4" /><Relationship Type="http://schemas.openxmlformats.org/officeDocument/2006/relationships/notesSlide" Target="/ppt/notesSlides/notesSlide8.xml" Id="Ra937866633124e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342305790a4f09" /><Relationship Type="http://schemas.openxmlformats.org/officeDocument/2006/relationships/notesSlide" Target="/ppt/notesSlides/notesSlide9.xml" Id="R7036f9abe8b84a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eee524a7e546e1" /><Relationship Type="http://schemas.openxmlformats.org/officeDocument/2006/relationships/notesSlide" Target="/ppt/notesSlides/notesSlide10.xml" Id="R191195cf8ce040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dfb5a4c5754c18" /><Relationship Type="http://schemas.openxmlformats.org/officeDocument/2006/relationships/notesSlide" Target="/ppt/notesSlides/notesSlide11.xml" Id="R19bf360c000441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49a3021d5074c5b" /><Relationship Type="http://schemas.openxmlformats.org/officeDocument/2006/relationships/notesSlide" Target="/ppt/notesSlides/notesSlide12.xml" Id="Ra9c2db6a3e36499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cup error (mm)</c:v>
          </c:tx>
          <c:spPr>
            <a:solidFill xmlns:a="http://schemas.openxmlformats.org/drawingml/2006/main">
              <a:srgbClr val="83E3B6"/>
            </a:solidFill>
          </c:spPr>
          <c:cat>
            <c:strRef>
              <c:f>'Chart Data'!$A$2:$A$3</c:f>
              <c:strCache>
                <c:ptCount val="2"/>
                <c:pt idx="0">
                  <c:v>Recovery on</c:v>
                </c:pt>
                <c:pt idx="1">
                  <c:v>Recovery off</c:v>
                </c:pt>
              </c:strCache>
            </c:strRef>
          </c:cat>
          <c:val>
            <c:numRef>
              <c:f>'Chart Data'!$B$2:$B$3</c:f>
              <c:numCache>
                <c:formatCode>General</c:formatCode>
                <c:ptCount val="2"/>
                <c:pt idx="0">
                  <c:v>14.05</c:v>
                </c:pt>
                <c:pt idx="1">
                  <c:v>160.96</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F3F5EF"/>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F3F5EF"/>
                </a:solidFill>
                <a:latin typeface="Arial"/>
                <a:ea typeface="Arial"/>
                <a:cs typeface="Arial"/>
              </a:defRPr>
            </a:pPr>
          </a:p>
        </c:txPr>
        <c:crossAx val="48672768"/>
      </c:catAx>
      <c:valAx>
        <c:axId val="48672768"/>
        <c:scaling>
          <c:orientation val="minMax"/>
          <c:max val="18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BBC9D2"/>
                </a:solidFill>
                <a:latin typeface="Arial"/>
                <a:ea typeface="Arial"/>
                <a:cs typeface="Arial"/>
              </a:defRPr>
            </a:pPr>
          </a:p>
        </c:txPr>
        <c:crossAx val="48650112"/>
        <c:crossBetween val="between"/>
      </c:valAx>
      <c:spPr>
        <a:solidFill xmlns:a="http://schemas.openxmlformats.org/drawingml/2006/main">
          <a:srgbClr val="0B1622"/>
        </a:solidFill>
      </c:spPr>
    </c:plotArea>
    <c:plotVisOnly val="1"/>
  </c:chart>
  <c:spPr>
    <a:solidFill xmlns:a="http://schemas.openxmlformats.org/drawingml/2006/main">
      <a:srgbClr val="0B162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967A19-C72E-4B44-9D51-1FABB6B0BEFF}"/>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GRANTED ROBOTICS</a:t>
            </a:r>
          </a:p>
        </p:txBody>
      </p:sp>
      <p:sp>
        <p:nvSpPr>
          <p:cNvPr id="2" name="">
            <a:extLst xmlns:a="http://schemas.openxmlformats.org/drawingml/2006/main">
              <a:ext uri="{FF2B5EF4-FFF2-40B4-BE49-F238E27FC236}">
                <a16:creationId xmlns:a16="http://schemas.microsoft.com/office/drawing/2014/main" id="{3F167DDF-3720-4CF3-878A-586B1CB03728}"/>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When the plan breaks,</a:t>
            </a:r>
          </a:p>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what happens next?</a:t>
            </a:r>
          </a:p>
        </p:txBody>
      </p:sp>
      <p:sp>
        <p:nvSpPr>
          <p:cNvPr id="3" name="">
            <a:extLst xmlns:a="http://schemas.openxmlformats.org/drawingml/2006/main">
              <a:ext uri="{FF2B5EF4-FFF2-40B4-BE49-F238E27FC236}">
                <a16:creationId xmlns:a16="http://schemas.microsoft.com/office/drawing/2014/main" id="{2F7E15A9-DE4F-48D0-ADF1-C3CE5333D093}"/>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01 / GRANTED ROBOTICS</a:t>
            </a:r>
          </a:p>
        </p:txBody>
      </p:sp>
      <p:sp>
        <p:nvSpPr>
          <p:cNvPr id="4" name="">
            <a:extLst xmlns:a="http://schemas.openxmlformats.org/drawingml/2006/main">
              <a:ext uri="{FF2B5EF4-FFF2-40B4-BE49-F238E27FC236}">
                <a16:creationId xmlns:a16="http://schemas.microsoft.com/office/drawing/2014/main" id="{CD55E0DB-A58D-4AEB-A119-503100C0C3B1}"/>
              </a:ext>
            </a:extLst>
          </p:cNvPr>
          <p:cNvSpPr>
            <a:spLocks xmlns:a="http://schemas.openxmlformats.org/drawingml/2006/main" noGrp="1"/>
          </p:cNvSpPr>
          <p:nvPr/>
        </p:nvSpPr>
        <p:spPr>
          <a:xfrm xmlns:a="http://schemas.openxmlformats.org/drawingml/2006/main">
            <a:off x="619125" y="34766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BC9D2"/>
                </a:solidFill>
                <a:latin typeface="Arial"/>
                <a:ea typeface="Arial"/>
                <a:cs typeface="Arial"/>
              </a:defRPr>
            </a:pPr>
            <a:r>
              <a:rPr sz="2550" b="0">
                <a:solidFill>
                  <a:srgbClr val="BBC9D2"/>
                </a:solidFill>
                <a:latin typeface="Arial"/>
                <a:ea typeface="Arial"/>
                <a:cs typeface="Arial"/>
              </a:rPr>
              <a:t>A recovery workbench for bimanual manipulation.</a:t>
            </a:r>
          </a:p>
        </p:txBody>
      </p:sp>
      <p:sp>
        <p:nvSpPr>
          <p:cNvPr id="5" name="">
            <a:extLst xmlns:a="http://schemas.openxmlformats.org/drawingml/2006/main">
              <a:ext uri="{FF2B5EF4-FFF2-40B4-BE49-F238E27FC236}">
                <a16:creationId xmlns:a16="http://schemas.microsoft.com/office/drawing/2014/main" id="{8AF20A2E-D031-435D-8292-D59A851A2957}"/>
              </a:ext>
            </a:extLst>
          </p:cNvPr>
          <p:cNvSpPr>
            <a:spLocks xmlns:a="http://schemas.openxmlformats.org/drawingml/2006/main" noGrp="1"/>
          </p:cNvSpPr>
          <p:nvPr/>
        </p:nvSpPr>
        <p:spPr>
          <a:xfrm xmlns:a="http://schemas.openxmlformats.org/drawingml/2006/main">
            <a:off x="619125" y="5095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3E3B6"/>
                </a:solidFill>
                <a:latin typeface="Arial"/>
                <a:ea typeface="Arial"/>
                <a:cs typeface="Arial"/>
              </a:defRPr>
            </a:pPr>
            <a:r>
              <a:rPr sz="1800" b="0">
                <a:solidFill>
                  <a:srgbClr val="83E3B6"/>
                </a:solidFill>
                <a:latin typeface="Arial"/>
                <a:ea typeface="Arial"/>
                <a:cs typeface="Arial"/>
              </a:rPr>
              <a:t>Shivam Gupta</a:t>
            </a:r>
          </a:p>
          <a:p xmlns:a="http://schemas.openxmlformats.org/drawingml/2006/main">
            <a:pPr>
              <a:defRPr sz="1800" b="0">
                <a:solidFill>
                  <a:srgbClr val="83E3B6"/>
                </a:solidFill>
                <a:latin typeface="Arial"/>
                <a:ea typeface="Arial"/>
                <a:cs typeface="Arial"/>
              </a:defRPr>
            </a:pPr>
            <a:r>
              <a:rPr sz="1800" b="0">
                <a:solidFill>
                  <a:srgbClr val="83E3B6"/>
                </a:solidFill>
                <a:latin typeface="Arial"/>
                <a:ea typeface="Arial"/>
                <a:cs typeface="Arial"/>
              </a:rPr>
              <a:t>AI Infra Summit Hackathon</a:t>
            </a:r>
          </a:p>
        </p:txBody>
      </p:sp>
    </p:spTree>
    <p:extLst>
      <p:ext uri="{BB962C8B-B14F-4D97-AF65-F5344CB8AC3E}">
        <p14:creationId xmlns:p14="http://schemas.microsoft.com/office/powerpoint/2010/main" val="705582200"/>
      </p:ext>
    </p:extLst>
  </p:cSld>
</p:sld>
</file>

<file path=ppt/slides/slide2.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AFD961-0030-444B-BB4C-0DB779C726C4}"/>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THE CUSTOMER PROBLEM</a:t>
            </a:r>
          </a:p>
        </p:txBody>
      </p:sp>
      <p:sp>
        <p:nvSpPr>
          <p:cNvPr id="2" name="">
            <a:extLst xmlns:a="http://schemas.openxmlformats.org/drawingml/2006/main">
              <a:ext uri="{FF2B5EF4-FFF2-40B4-BE49-F238E27FC236}">
                <a16:creationId xmlns:a16="http://schemas.microsoft.com/office/drawing/2014/main" id="{9E637F2C-F890-4F94-8CE6-1654A1E1C013}"/>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A failure should become a reproducible test</a:t>
            </a:r>
          </a:p>
        </p:txBody>
      </p:sp>
      <p:sp>
        <p:nvSpPr>
          <p:cNvPr id="3" name="">
            <a:extLst xmlns:a="http://schemas.openxmlformats.org/drawingml/2006/main">
              <a:ext uri="{FF2B5EF4-FFF2-40B4-BE49-F238E27FC236}">
                <a16:creationId xmlns:a16="http://schemas.microsoft.com/office/drawing/2014/main" id="{59D02D09-60B0-4F9F-8832-D190A98DE3C2}"/>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02 / GRANTED ROBOTICS</a:t>
            </a:r>
          </a:p>
        </p:txBody>
      </p:sp>
      <p:sp>
        <p:nvSpPr>
          <p:cNvPr id="4" name="">
            <a:extLst xmlns:a="http://schemas.openxmlformats.org/drawingml/2006/main">
              <a:ext uri="{FF2B5EF4-FFF2-40B4-BE49-F238E27FC236}">
                <a16:creationId xmlns:a16="http://schemas.microsoft.com/office/drawing/2014/main" id="{1A8F6298-F469-4090-8C48-39E4F1E09E04}"/>
              </a:ext>
            </a:extLst>
          </p:cNvPr>
          <p:cNvSpPr>
            <a:spLocks xmlns:a="http://schemas.openxmlformats.org/drawingml/2006/main" noGrp="1"/>
          </p:cNvSpPr>
          <p:nvPr/>
        </p:nvSpPr>
        <p:spPr>
          <a:xfrm xmlns:a="http://schemas.openxmlformats.org/drawingml/2006/main">
            <a:off x="619125" y="2190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3E3B6"/>
                </a:solidFill>
                <a:latin typeface="Arial"/>
                <a:ea typeface="Arial"/>
                <a:cs typeface="Arial"/>
              </a:defRPr>
            </a:pPr>
            <a:r>
              <a:rPr sz="2325" b="1">
                <a:solidFill>
                  <a:srgbClr val="83E3B6"/>
                </a:solidFill>
                <a:latin typeface="Arial"/>
                <a:ea typeface="Arial"/>
                <a:cs typeface="Arial"/>
              </a:rPr>
              <a:t>Recurring failure</a:t>
            </a:r>
          </a:p>
        </p:txBody>
      </p:sp>
      <p:sp>
        <p:nvSpPr>
          <p:cNvPr id="5" name="">
            <a:extLst xmlns:a="http://schemas.openxmlformats.org/drawingml/2006/main">
              <a:ext uri="{FF2B5EF4-FFF2-40B4-BE49-F238E27FC236}">
                <a16:creationId xmlns:a16="http://schemas.microsoft.com/office/drawing/2014/main" id="{720F92EF-ACA0-477B-9694-0F43E72D2FD8}"/>
              </a:ext>
            </a:extLst>
          </p:cNvPr>
          <p:cNvSpPr>
            <a:spLocks xmlns:a="http://schemas.openxmlformats.org/drawingml/2006/main" noGrp="1"/>
          </p:cNvSpPr>
          <p:nvPr/>
        </p:nvSpPr>
        <p:spPr>
          <a:xfrm xmlns:a="http://schemas.openxmlformats.org/drawingml/2006/main">
            <a:off x="619125" y="2762250"/>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BC9D2"/>
                </a:solidFill>
                <a:latin typeface="Arial"/>
                <a:ea typeface="Arial"/>
                <a:cs typeface="Arial"/>
              </a:defRPr>
            </a:pPr>
            <a:r>
              <a:rPr sz="2025" b="0">
                <a:solidFill>
                  <a:srgbClr val="BBC9D2"/>
                </a:solidFill>
                <a:latin typeface="Arial"/>
                <a:ea typeface="Arial"/>
                <a:cs typeface="Arial"/>
              </a:rPr>
              <a:t>A cup moves after planning.</a:t>
            </a:r>
          </a:p>
          <a:p xmlns:a="http://schemas.openxmlformats.org/drawingml/2006/main">
            <a:pPr>
              <a:defRPr sz="2025" b="0">
                <a:solidFill>
                  <a:srgbClr val="BBC9D2"/>
                </a:solidFill>
                <a:latin typeface="Arial"/>
                <a:ea typeface="Arial"/>
                <a:cs typeface="Arial"/>
              </a:defRPr>
            </a:pPr>
            <a:r>
              <a:rPr sz="2025" b="0">
                <a:solidFill>
                  <a:srgbClr val="BBC9D2"/>
                </a:solidFill>
                <a:latin typeface="Arial"/>
                <a:ea typeface="Arial"/>
                <a:cs typeface="Arial"/>
              </a:rPr>
              <a:t>A grasp slips during transport.</a:t>
            </a:r>
          </a:p>
          <a:p xmlns:a="http://schemas.openxmlformats.org/drawingml/2006/main">
            <a:pPr>
              <a:defRPr sz="2025" b="0">
                <a:solidFill>
                  <a:srgbClr val="BBC9D2"/>
                </a:solidFill>
                <a:latin typeface="Arial"/>
                <a:ea typeface="Arial"/>
                <a:cs typeface="Arial"/>
              </a:defRPr>
            </a:pPr>
            <a:r>
              <a:rPr sz="2025" b="0">
                <a:solidFill>
                  <a:srgbClr val="BBC9D2"/>
                </a:solidFill>
                <a:latin typeface="Arial"/>
                <a:ea typeface="Arial"/>
                <a:cs typeface="Arial"/>
              </a:rPr>
              <a:t>An obstacle blocks the workspace.</a:t>
            </a:r>
          </a:p>
        </p:txBody>
      </p:sp>
      <p:sp>
        <p:nvSpPr>
          <p:cNvPr id="6" name="">
            <a:extLst xmlns:a="http://schemas.openxmlformats.org/drawingml/2006/main">
              <a:ext uri="{FF2B5EF4-FFF2-40B4-BE49-F238E27FC236}">
                <a16:creationId xmlns:a16="http://schemas.microsoft.com/office/drawing/2014/main" id="{E1AA5FF2-A5DB-4EA5-AC86-958E5173823D}"/>
              </a:ext>
            </a:extLst>
          </p:cNvPr>
          <p:cNvSpPr>
            <a:spLocks xmlns:a="http://schemas.openxmlformats.org/drawingml/2006/main" noGrp="1"/>
          </p:cNvSpPr>
          <p:nvPr/>
        </p:nvSpPr>
        <p:spPr>
          <a:xfrm xmlns:a="http://schemas.openxmlformats.org/drawingml/2006/main">
            <a:off x="6286500" y="21907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3E3B6"/>
                </a:solidFill>
                <a:latin typeface="Arial"/>
                <a:ea typeface="Arial"/>
                <a:cs typeface="Arial"/>
              </a:defRPr>
            </a:pPr>
            <a:r>
              <a:rPr sz="2325" b="1">
                <a:solidFill>
                  <a:srgbClr val="83E3B6"/>
                </a:solidFill>
                <a:latin typeface="Arial"/>
                <a:ea typeface="Arial"/>
                <a:cs typeface="Arial"/>
              </a:rPr>
              <a:t>The product response</a:t>
            </a:r>
          </a:p>
        </p:txBody>
      </p:sp>
      <p:sp>
        <p:nvSpPr>
          <p:cNvPr id="7" name="">
            <a:extLst xmlns:a="http://schemas.openxmlformats.org/drawingml/2006/main">
              <a:ext uri="{FF2B5EF4-FFF2-40B4-BE49-F238E27FC236}">
                <a16:creationId xmlns:a16="http://schemas.microsoft.com/office/drawing/2014/main" id="{2C4366D5-F957-4A0E-A08E-E406C822BEE5}"/>
              </a:ext>
            </a:extLst>
          </p:cNvPr>
          <p:cNvSpPr>
            <a:spLocks xmlns:a="http://schemas.openxmlformats.org/drawingml/2006/main" noGrp="1"/>
          </p:cNvSpPr>
          <p:nvPr/>
        </p:nvSpPr>
        <p:spPr>
          <a:xfrm xmlns:a="http://schemas.openxmlformats.org/drawingml/2006/main">
            <a:off x="6286500" y="2762250"/>
            <a:ext cx="5000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BC9D2"/>
                </a:solidFill>
                <a:latin typeface="Arial"/>
                <a:ea typeface="Arial"/>
                <a:cs typeface="Arial"/>
              </a:defRPr>
            </a:pPr>
            <a:r>
              <a:rPr sz="2025" b="0">
                <a:solidFill>
                  <a:srgbClr val="BBC9D2"/>
                </a:solidFill>
                <a:latin typeface="Arial"/>
                <a:ea typeface="Arial"/>
                <a:cs typeface="Arial"/>
              </a:rPr>
              <a:t>Configure a bounded task.</a:t>
            </a:r>
          </a:p>
          <a:p xmlns:a="http://schemas.openxmlformats.org/drawingml/2006/main">
            <a:pPr>
              <a:defRPr sz="2025" b="0">
                <a:solidFill>
                  <a:srgbClr val="BBC9D2"/>
                </a:solidFill>
                <a:latin typeface="Arial"/>
                <a:ea typeface="Arial"/>
                <a:cs typeface="Arial"/>
              </a:defRPr>
            </a:pPr>
            <a:r>
              <a:rPr sz="2025" b="0">
                <a:solidFill>
                  <a:srgbClr val="BBC9D2"/>
                </a:solidFill>
                <a:latin typeface="Arial"/>
                <a:ea typeface="Arial"/>
                <a:cs typeface="Arial"/>
              </a:rPr>
              <a:t>Inject a known disturbance.</a:t>
            </a:r>
          </a:p>
          <a:p xmlns:a="http://schemas.openxmlformats.org/drawingml/2006/main">
            <a:pPr>
              <a:defRPr sz="2025" b="0">
                <a:solidFill>
                  <a:srgbClr val="BBC9D2"/>
                </a:solidFill>
                <a:latin typeface="Arial"/>
                <a:ea typeface="Arial"/>
                <a:cs typeface="Arial"/>
              </a:defRPr>
            </a:pPr>
            <a:r>
              <a:rPr sz="2025" b="0">
                <a:solidFill>
                  <a:srgbClr val="BBC9D2"/>
                </a:solidFill>
                <a:latin typeface="Arial"/>
                <a:ea typeface="Arial"/>
                <a:cs typeface="Arial"/>
              </a:rPr>
              <a:t>Inspect the result and export evidence.</a:t>
            </a:r>
          </a:p>
        </p:txBody>
      </p:sp>
      <p:sp>
        <p:nvSpPr>
          <p:cNvPr id="8" name="">
            <a:extLst xmlns:a="http://schemas.openxmlformats.org/drawingml/2006/main">
              <a:ext uri="{FF2B5EF4-FFF2-40B4-BE49-F238E27FC236}">
                <a16:creationId xmlns:a16="http://schemas.microsoft.com/office/drawing/2014/main" id="{87DDE6FA-A10A-4C04-BE90-D00A4C6A9DAB}"/>
              </a:ext>
            </a:extLst>
          </p:cNvPr>
          <p:cNvSpPr>
            <a:spLocks xmlns:a="http://schemas.openxmlformats.org/drawingml/2006/main" noGrp="1"/>
          </p:cNvSpPr>
          <p:nvPr/>
        </p:nvSpPr>
        <p:spPr>
          <a:xfrm xmlns:a="http://schemas.openxmlformats.org/drawingml/2006/main">
            <a:off x="619125" y="51911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5EF"/>
                </a:solidFill>
                <a:latin typeface="Arial"/>
                <a:ea typeface="Arial"/>
                <a:cs typeface="Arial"/>
              </a:defRPr>
            </a:pPr>
            <a:r>
              <a:rPr sz="2250" b="0">
                <a:solidFill>
                  <a:srgbClr val="F3F5EF"/>
                </a:solidFill>
                <a:latin typeface="Arial"/>
                <a:ea typeface="Arial"/>
                <a:cs typeface="Arial"/>
              </a:rPr>
              <a:t>Pilot success means less engineer time per diagnosed regression.</a:t>
            </a:r>
          </a:p>
        </p:txBody>
      </p:sp>
    </p:spTree>
    <p:extLst>
      <p:ext uri="{BB962C8B-B14F-4D97-AF65-F5344CB8AC3E}">
        <p14:creationId xmlns:p14="http://schemas.microsoft.com/office/powerpoint/2010/main" val="1257445813"/>
      </p:ext>
    </p:extLst>
  </p:cSld>
</p:sld>
</file>

<file path=ppt/slides/slide3.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816E95-E985-430F-97D3-284D97C6D318}"/>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CFAA234D-5E57-4CE0-9545-C995D73A9695}"/>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The interface and the physics have separate jobs</a:t>
            </a:r>
          </a:p>
        </p:txBody>
      </p:sp>
      <p:sp>
        <p:nvSpPr>
          <p:cNvPr id="3" name="">
            <a:extLst xmlns:a="http://schemas.openxmlformats.org/drawingml/2006/main">
              <a:ext uri="{FF2B5EF4-FFF2-40B4-BE49-F238E27FC236}">
                <a16:creationId xmlns:a16="http://schemas.microsoft.com/office/drawing/2014/main" id="{209988EA-2C43-4586-96F6-DC7E5D906E97}"/>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03 / GRANTED ROBOTICS</a:t>
            </a:r>
          </a:p>
        </p:txBody>
      </p:sp>
      <p:graphicFrame>
        <p:nvGraphicFramePr>
          <p:cNvPr id="9" name=""/>
          <p:cNvGraphicFramePr/>
          <p:nvPr/>
        </p:nvGraphicFramePr>
        <p:xfrm>
          <a:off xmlns:a="http://schemas.openxmlformats.org/drawingml/2006/main" x="619125" y="2047875"/>
          <a:ext xmlns:a="http://schemas.openxmlformats.org/drawingml/2006/main" cx="10953750" cy="3524250"/>
        </p:xfrm>
        <a:graphic xmlns:a="http://schemas.openxmlformats.org/drawingml/2006/main">
          <a:graphicData uri="http://schemas.openxmlformats.org/drawingml/2006/table">
            <a:tbl>
              <a:tblPr/>
              <a:tblGrid>
                <a:gridCol w="3095625"/>
                <a:gridCol w="7858125"/>
              </a:tblGrid>
              <a:tr h="587375">
                <a:tc>
                  <a:txBody>
                    <a:bodyPr/>
                    <a:lstStyle/>
                    <a:p>
                      <a:r>
                        <a:rPr sz="1800" b="1">
                          <a:solidFill>
                            <a:srgbClr val="83E3B6"/>
                          </a:solidFill>
                          <a:latin typeface="Arial"/>
                          <a:ea typeface="Arial"/>
                          <a:cs typeface="Arial"/>
                        </a:rPr>
                        <a:t>Layer</a:t>
                      </a:r>
                    </a:p>
                  </a:txBody>
                  <a:tcPr marL="91440" marR="91440" marT="45720" marB="45720">
                    <a:solidFill>
                      <a:srgbClr val="193328"/>
                    </a:solidFill>
                  </a:tcPr>
                </a:tc>
                <a:tc>
                  <a:txBody>
                    <a:bodyPr/>
                    <a:lstStyle/>
                    <a:p>
                      <a:r>
                        <a:rPr sz="1800" b="1">
                          <a:solidFill>
                            <a:srgbClr val="83E3B6"/>
                          </a:solidFill>
                          <a:latin typeface="Arial"/>
                          <a:ea typeface="Arial"/>
                          <a:cs typeface="Arial"/>
                        </a:rPr>
                        <a:t>Responsibility</a:t>
                      </a:r>
                    </a:p>
                  </a:txBody>
                  <a:tcPr marL="91440" marR="91440" marT="45720" marB="45720">
                    <a:solidFill>
                      <a:srgbClr val="193328"/>
                    </a:solidFill>
                  </a:tcPr>
                </a:tc>
              </a:tr>
              <a:tr h="587375">
                <a:tc>
                  <a:txBody>
                    <a:bodyPr/>
                    <a:lstStyle/>
                    <a:p>
                      <a:r>
                        <a:rPr sz="1800" b="0">
                          <a:solidFill>
                            <a:srgbClr val="F3F5EF"/>
                          </a:solidFill>
                          <a:latin typeface="Arial"/>
                          <a:ea typeface="Arial"/>
                          <a:cs typeface="Arial"/>
                        </a:rPr>
                        <a:t>React and Firebase Hosting</a:t>
                      </a:r>
                    </a:p>
                  </a:txBody>
                  <a:tcPr marL="91440" marR="91440" marT="45720" marB="45720">
                    <a:solidFill>
                      <a:srgbClr val="0B1622"/>
                    </a:solidFill>
                  </a:tcPr>
                </a:tc>
                <a:tc>
                  <a:txBody>
                    <a:bodyPr/>
                    <a:lstStyle/>
                    <a:p>
                      <a:r>
                        <a:rPr sz="1800" b="0">
                          <a:solidFill>
                            <a:srgbClr val="F3F5EF"/>
                          </a:solidFill>
                          <a:latin typeface="Arial"/>
                          <a:ea typeface="Arial"/>
                          <a:cs typeface="Arial"/>
                        </a:rPr>
                        <a:t>Task entry, playback, evidence export, account UI</a:t>
                      </a:r>
                    </a:p>
                  </a:txBody>
                  <a:tcPr marL="91440" marR="91440" marT="45720" marB="45720">
                    <a:solidFill>
                      <a:srgbClr val="0B1622"/>
                    </a:solidFill>
                  </a:tcPr>
                </a:tc>
              </a:tr>
              <a:tr h="587375">
                <a:tc>
                  <a:txBody>
                    <a:bodyPr/>
                    <a:lstStyle/>
                    <a:p>
                      <a:r>
                        <a:rPr sz="1800" b="0">
                          <a:solidFill>
                            <a:srgbClr val="F3F5EF"/>
                          </a:solidFill>
                          <a:latin typeface="Arial"/>
                          <a:ea typeface="Arial"/>
                          <a:cs typeface="Arial"/>
                        </a:rPr>
                        <a:t>FastAPI contract</a:t>
                      </a:r>
                    </a:p>
                  </a:txBody>
                  <a:tcPr marL="91440" marR="91440" marT="45720" marB="45720">
                    <a:solidFill>
                      <a:srgbClr val="0B1622"/>
                    </a:solidFill>
                  </a:tcPr>
                </a:tc>
                <a:tc>
                  <a:txBody>
                    <a:bodyPr/>
                    <a:lstStyle/>
                    <a:p>
                      <a:r>
                        <a:rPr sz="1800" b="0">
                          <a:solidFill>
                            <a:srgbClr val="F3F5EF"/>
                          </a:solidFill>
                          <a:latin typeface="Arial"/>
                          <a:ea typeface="Arial"/>
                          <a:cs typeface="Arial"/>
                        </a:rPr>
                        <a:t>Schema validation, bounded workers, explicit failures</a:t>
                      </a:r>
                    </a:p>
                  </a:txBody>
                  <a:tcPr marL="91440" marR="91440" marT="45720" marB="45720">
                    <a:solidFill>
                      <a:srgbClr val="0B1622"/>
                    </a:solidFill>
                  </a:tcPr>
                </a:tc>
              </a:tr>
              <a:tr h="587375">
                <a:tc>
                  <a:txBody>
                    <a:bodyPr/>
                    <a:lstStyle/>
                    <a:p>
                      <a:r>
                        <a:rPr sz="1800" b="0">
                          <a:solidFill>
                            <a:srgbClr val="F3F5EF"/>
                          </a:solidFill>
                          <a:latin typeface="Arial"/>
                          <a:ea typeface="Arial"/>
                          <a:cs typeface="Arial"/>
                        </a:rPr>
                        <a:t>Camera and task validator</a:t>
                      </a:r>
                    </a:p>
                  </a:txBody>
                  <a:tcPr marL="91440" marR="91440" marT="45720" marB="45720">
                    <a:solidFill>
                      <a:srgbClr val="0B1622"/>
                    </a:solidFill>
                  </a:tcPr>
                </a:tc>
                <a:tc>
                  <a:txBody>
                    <a:bodyPr/>
                    <a:lstStyle/>
                    <a:p>
                      <a:r>
                        <a:rPr sz="1800" b="0">
                          <a:solidFill>
                            <a:srgbClr val="F3F5EF"/>
                          </a:solidFill>
                          <a:latin typeface="Arial"/>
                          <a:ea typeface="Arial"/>
                          <a:cs typeface="Arial"/>
                        </a:rPr>
                        <a:t>Optional image plus instruction, constrained output</a:t>
                      </a:r>
                    </a:p>
                  </a:txBody>
                  <a:tcPr marL="91440" marR="91440" marT="45720" marB="45720">
                    <a:solidFill>
                      <a:srgbClr val="0B1622"/>
                    </a:solidFill>
                  </a:tcPr>
                </a:tc>
              </a:tr>
              <a:tr h="587375">
                <a:tc>
                  <a:txBody>
                    <a:bodyPr/>
                    <a:lstStyle/>
                    <a:p>
                      <a:r>
                        <a:rPr sz="1800" b="0">
                          <a:solidFill>
                            <a:srgbClr val="F3F5EF"/>
                          </a:solidFill>
                          <a:latin typeface="Arial"/>
                          <a:ea typeface="Arial"/>
                          <a:cs typeface="Arial"/>
                        </a:rPr>
                        <a:t>MuJoCo and OpenVINO</a:t>
                      </a:r>
                    </a:p>
                  </a:txBody>
                  <a:tcPr marL="91440" marR="91440" marT="45720" marB="45720">
                    <a:solidFill>
                      <a:srgbClr val="0B1622"/>
                    </a:solidFill>
                  </a:tcPr>
                </a:tc>
                <a:tc>
                  <a:txBody>
                    <a:bodyPr/>
                    <a:lstStyle/>
                    <a:p>
                      <a:r>
                        <a:rPr sz="1800" b="0">
                          <a:solidFill>
                            <a:srgbClr val="F3F5EF"/>
                          </a:solidFill>
                          <a:latin typeface="Arial"/>
                          <a:ea typeface="Arial"/>
                          <a:cs typeface="Arial"/>
                        </a:rPr>
                        <a:t>SO101 control, fault handling, geometric separation</a:t>
                      </a:r>
                    </a:p>
                  </a:txBody>
                  <a:tcPr marL="91440" marR="91440" marT="45720" marB="45720">
                    <a:solidFill>
                      <a:srgbClr val="0B1622"/>
                    </a:solidFill>
                  </a:tcPr>
                </a:tc>
              </a:tr>
              <a:tr h="587375">
                <a:tc>
                  <a:txBody>
                    <a:bodyPr/>
                    <a:lstStyle/>
                    <a:p>
                      <a:r>
                        <a:rPr sz="1800" b="0">
                          <a:solidFill>
                            <a:srgbClr val="F3F5EF"/>
                          </a:solidFill>
                          <a:latin typeface="Arial"/>
                          <a:ea typeface="Arial"/>
                          <a:cs typeface="Arial"/>
                        </a:rPr>
                        <a:t>Evidence</a:t>
                      </a:r>
                    </a:p>
                  </a:txBody>
                  <a:tcPr marL="91440" marR="91440" marT="45720" marB="45720">
                    <a:solidFill>
                      <a:srgbClr val="0B1622"/>
                    </a:solidFill>
                  </a:tcPr>
                </a:tc>
                <a:tc>
                  <a:txBody>
                    <a:bodyPr/>
                    <a:lstStyle/>
                    <a:p>
                      <a:r>
                        <a:rPr sz="1800" b="0">
                          <a:solidFill>
                            <a:srgbClr val="F3F5EF"/>
                          </a:solidFill>
                          <a:latin typeface="Arial"/>
                          <a:ea typeface="Arial"/>
                          <a:cs typeface="Arial"/>
                        </a:rPr>
                        <a:t>Events, sampled states, placement errors, seeded trials</a:t>
                      </a:r>
                    </a:p>
                  </a:txBody>
                  <a:tcPr marL="91440" marR="91440" marT="45720" marB="45720">
                    <a:solidFill>
                      <a:srgbClr val="0B1622"/>
                    </a:solidFill>
                  </a:tcPr>
                </a:tc>
              </a:tr>
            </a:tbl>
          </a:graphicData>
        </a:graphic>
      </p:graphicFrame>
      <p:sp>
        <p:nvSpPr>
          <p:cNvPr id="5" name="">
            <a:extLst xmlns:a="http://schemas.openxmlformats.org/drawingml/2006/main">
              <a:ext uri="{FF2B5EF4-FFF2-40B4-BE49-F238E27FC236}">
                <a16:creationId xmlns:a16="http://schemas.microsoft.com/office/drawing/2014/main" id="{C81C148C-ABA6-4C56-8BAB-C1FF0FA59E09}"/>
              </a:ext>
            </a:extLst>
          </p:cNvPr>
          <p:cNvSpPr>
            <a:spLocks xmlns:a="http://schemas.openxmlformats.org/drawingml/2006/main" noGrp="1"/>
          </p:cNvSpPr>
          <p:nvPr/>
        </p:nvSpPr>
        <p:spPr>
          <a:xfrm xmlns:a="http://schemas.openxmlformats.org/drawingml/2006/main">
            <a:off x="619125" y="58293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BC9D2"/>
                </a:solidFill>
                <a:latin typeface="Arial"/>
                <a:ea typeface="Arial"/>
                <a:cs typeface="Arial"/>
              </a:defRPr>
            </a:pPr>
            <a:r>
              <a:rPr sz="1575" b="0">
                <a:solidFill>
                  <a:srgbClr val="BBC9D2"/>
                </a:solidFill>
                <a:latin typeface="Arial"/>
                <a:ea typeface="Arial"/>
                <a:cs typeface="Arial"/>
              </a:rPr>
              <a:t>Browser animation illustrates the workflow. Backend evidence records actual simulation.</a:t>
            </a:r>
          </a:p>
        </p:txBody>
      </p:sp>
    </p:spTree>
    <p:extLst>
      <p:ext uri="{BB962C8B-B14F-4D97-AF65-F5344CB8AC3E}">
        <p14:creationId xmlns:p14="http://schemas.microsoft.com/office/powerpoint/2010/main" val="168035029"/>
      </p:ext>
    </p:extLst>
  </p:cSld>
</p:sld>
</file>

<file path=ppt/slides/slide4.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BDB6D9-D76C-41A4-8C86-21C08038B454}"/>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LANGUAGE AND CAMERA INPUT</a:t>
            </a:r>
          </a:p>
        </p:txBody>
      </p:sp>
      <p:sp>
        <p:nvSpPr>
          <p:cNvPr id="2" name="">
            <a:extLst xmlns:a="http://schemas.openxmlformats.org/drawingml/2006/main">
              <a:ext uri="{FF2B5EF4-FFF2-40B4-BE49-F238E27FC236}">
                <a16:creationId xmlns:a16="http://schemas.microsoft.com/office/drawing/2014/main" id="{70E218AF-BDBA-4EAB-A692-33F7057CC26F}"/>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A bounded contract keeps intent inspectable</a:t>
            </a:r>
          </a:p>
        </p:txBody>
      </p:sp>
      <p:sp>
        <p:nvSpPr>
          <p:cNvPr id="3" name="">
            <a:extLst xmlns:a="http://schemas.openxmlformats.org/drawingml/2006/main">
              <a:ext uri="{FF2B5EF4-FFF2-40B4-BE49-F238E27FC236}">
                <a16:creationId xmlns:a16="http://schemas.microsoft.com/office/drawing/2014/main" id="{2A3EEE3D-5CF2-48CA-8631-109D13E87673}"/>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04 / GRANTED ROBOTICS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e1c3f260eec48c7"/>
          <a:stretch xmlns:a="http://schemas.openxmlformats.org/drawingml/2006/main"/>
        </p:blipFill>
        <p:spPr>
          <a:xfrm xmlns:a="http://schemas.openxmlformats.org/drawingml/2006/main">
            <a:off x="809625" y="1952625"/>
            <a:ext cx="4953000"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A24E7E9-1503-45D7-ABE2-0DB3E0C4944C}"/>
              </a:ext>
            </a:extLst>
          </p:cNvPr>
          <p:cNvSpPr>
            <a:spLocks xmlns:a="http://schemas.openxmlformats.org/drawingml/2006/main" noGrp="1"/>
          </p:cNvSpPr>
          <p:nvPr/>
        </p:nvSpPr>
        <p:spPr>
          <a:xfrm xmlns:a="http://schemas.openxmlformats.org/drawingml/2006/main">
            <a:off x="6477000" y="20955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3E3B6"/>
                </a:solidFill>
                <a:latin typeface="Arial"/>
                <a:ea typeface="Arial"/>
                <a:cs typeface="Arial"/>
              </a:defRPr>
            </a:pPr>
            <a:r>
              <a:rPr sz="1875" b="1">
                <a:solidFill>
                  <a:srgbClr val="83E3B6"/>
                </a:solidFill>
                <a:latin typeface="Arial"/>
                <a:ea typeface="Arial"/>
                <a:cs typeface="Arial"/>
              </a:rPr>
              <a:t>Camera + language validator</a:t>
            </a:r>
          </a:p>
        </p:txBody>
      </p:sp>
      <p:sp>
        <p:nvSpPr>
          <p:cNvPr id="6" name="">
            <a:extLst xmlns:a="http://schemas.openxmlformats.org/drawingml/2006/main">
              <a:ext uri="{FF2B5EF4-FFF2-40B4-BE49-F238E27FC236}">
                <a16:creationId xmlns:a16="http://schemas.microsoft.com/office/drawing/2014/main" id="{1F5C9131-A5CE-4831-A94A-2B37392B8CA2}"/>
              </a:ext>
            </a:extLst>
          </p:cNvPr>
          <p:cNvSpPr>
            <a:spLocks xmlns:a="http://schemas.openxmlformats.org/drawingml/2006/main" noGrp="1"/>
          </p:cNvSpPr>
          <p:nvPr/>
        </p:nvSpPr>
        <p:spPr>
          <a:xfrm xmlns:a="http://schemas.openxmlformats.org/drawingml/2006/main">
            <a:off x="6477000" y="25717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EF"/>
                </a:solidFill>
                <a:latin typeface="Arial"/>
                <a:ea typeface="Arial"/>
                <a:cs typeface="Arial"/>
              </a:defRPr>
            </a:pPr>
            <a:r>
              <a:rPr sz="1875" b="0">
                <a:solidFill>
                  <a:srgbClr val="F3F5EF"/>
                </a:solidFill>
                <a:latin typeface="Arial"/>
                <a:ea typeface="Arial"/>
                <a:cs typeface="Arial"/>
              </a:rPr>
              <a:t>Raw image, instruction, strict schema</a:t>
            </a:r>
          </a:p>
        </p:txBody>
      </p:sp>
      <p:sp>
        <p:nvSpPr>
          <p:cNvPr id="7" name="">
            <a:extLst xmlns:a="http://schemas.openxmlformats.org/drawingml/2006/main">
              <a:ext uri="{FF2B5EF4-FFF2-40B4-BE49-F238E27FC236}">
                <a16:creationId xmlns:a16="http://schemas.microsoft.com/office/drawing/2014/main" id="{73E0BBCC-3D95-4B88-BC14-94941B77D749}"/>
              </a:ext>
            </a:extLst>
          </p:cNvPr>
          <p:cNvSpPr>
            <a:spLocks xmlns:a="http://schemas.openxmlformats.org/drawingml/2006/main" noGrp="1"/>
          </p:cNvSpPr>
          <p:nvPr/>
        </p:nvSpPr>
        <p:spPr>
          <a:xfrm xmlns:a="http://schemas.openxmlformats.org/drawingml/2006/main">
            <a:off x="6477000" y="33718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3E3B6"/>
                </a:solidFill>
                <a:latin typeface="Arial"/>
                <a:ea typeface="Arial"/>
                <a:cs typeface="Arial"/>
              </a:defRPr>
            </a:pPr>
            <a:r>
              <a:rPr sz="1875" b="1">
                <a:solidFill>
                  <a:srgbClr val="83E3B6"/>
                </a:solidFill>
                <a:latin typeface="Arial"/>
                <a:ea typeface="Arial"/>
                <a:cs typeface="Arial"/>
              </a:rPr>
              <a:t>Joint-target imitation policy</a:t>
            </a:r>
          </a:p>
        </p:txBody>
      </p:sp>
      <p:sp>
        <p:nvSpPr>
          <p:cNvPr id="8" name="">
            <a:extLst xmlns:a="http://schemas.openxmlformats.org/drawingml/2006/main">
              <a:ext uri="{FF2B5EF4-FFF2-40B4-BE49-F238E27FC236}">
                <a16:creationId xmlns:a16="http://schemas.microsoft.com/office/drawing/2014/main" id="{5C2B8361-2C7F-43D4-BCCA-89AF39712F42}"/>
              </a:ext>
            </a:extLst>
          </p:cNvPr>
          <p:cNvSpPr>
            <a:spLocks xmlns:a="http://schemas.openxmlformats.org/drawingml/2006/main" noGrp="1"/>
          </p:cNvSpPr>
          <p:nvPr/>
        </p:nvSpPr>
        <p:spPr>
          <a:xfrm xmlns:a="http://schemas.openxmlformats.org/drawingml/2006/main">
            <a:off x="6477000" y="3810000"/>
            <a:ext cx="4857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BC9D2"/>
                </a:solidFill>
                <a:latin typeface="Arial"/>
                <a:ea typeface="Arial"/>
                <a:cs typeface="Arial"/>
              </a:defRPr>
            </a:pPr>
            <a:r>
              <a:rPr sz="1875" b="0">
                <a:solidFill>
                  <a:srgbClr val="BBC9D2"/>
                </a:solidFill>
                <a:latin typeface="Arial"/>
                <a:ea typeface="Arial"/>
                <a:cs typeface="Arial"/>
              </a:rPr>
              <a:t>480 training / 120 held-out samples</a:t>
            </a:r>
          </a:p>
          <a:p xmlns:a="http://schemas.openxmlformats.org/drawingml/2006/main">
            <a:pPr>
              <a:defRPr sz="1875" b="0">
                <a:solidFill>
                  <a:srgbClr val="BBC9D2"/>
                </a:solidFill>
                <a:latin typeface="Arial"/>
                <a:ea typeface="Arial"/>
                <a:cs typeface="Arial"/>
              </a:defRPr>
            </a:pPr>
            <a:r>
              <a:rPr sz="1875" b="0">
                <a:solidFill>
                  <a:srgbClr val="BBC9D2"/>
                </a:solidFill>
                <a:latin typeface="Arial"/>
                <a:ea typeface="Arial"/>
                <a:cs typeface="Arial"/>
              </a:rPr>
              <a:t>OpenVINO FP32 proposals</a:t>
            </a:r>
          </a:p>
          <a:p xmlns:a="http://schemas.openxmlformats.org/drawingml/2006/main">
            <a:pPr>
              <a:defRPr sz="1875" b="0">
                <a:solidFill>
                  <a:srgbClr val="BBC9D2"/>
                </a:solidFill>
                <a:latin typeface="Arial"/>
                <a:ea typeface="Arial"/>
                <a:cs typeface="Arial"/>
              </a:defRPr>
            </a:pPr>
            <a:r>
              <a:rPr sz="1875" b="0">
                <a:solidFill>
                  <a:srgbClr val="BBC9D2"/>
                </a:solidFill>
                <a:latin typeface="Arial"/>
                <a:ea typeface="Arial"/>
                <a:cs typeface="Arial"/>
              </a:rPr>
              <a:t>Mandatory numerical correction</a:t>
            </a:r>
          </a:p>
        </p:txBody>
      </p:sp>
      <p:sp>
        <p:nvSpPr>
          <p:cNvPr id="9" name="">
            <a:extLst xmlns:a="http://schemas.openxmlformats.org/drawingml/2006/main">
              <a:ext uri="{FF2B5EF4-FFF2-40B4-BE49-F238E27FC236}">
                <a16:creationId xmlns:a16="http://schemas.microsoft.com/office/drawing/2014/main" id="{7B11C189-B0AC-41CE-9B82-7D0D41636142}"/>
              </a:ext>
            </a:extLst>
          </p:cNvPr>
          <p:cNvSpPr>
            <a:spLocks xmlns:a="http://schemas.openxmlformats.org/drawingml/2006/main" noGrp="1"/>
          </p:cNvSpPr>
          <p:nvPr/>
        </p:nvSpPr>
        <p:spPr>
          <a:xfrm xmlns:a="http://schemas.openxmlformats.org/drawingml/2006/main">
            <a:off x="619125" y="59055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BC9D2"/>
                </a:solidFill>
                <a:latin typeface="Arial"/>
                <a:ea typeface="Arial"/>
                <a:cs typeface="Arial"/>
              </a:defRPr>
            </a:pPr>
            <a:r>
              <a:rPr sz="1575" b="0">
                <a:solidFill>
                  <a:srgbClr val="BBC9D2"/>
                </a:solidFill>
                <a:latin typeface="Arial"/>
                <a:ea typeface="Arial"/>
                <a:cs typeface="Arial"/>
              </a:rPr>
              <a:t>Held-out joint RMSE: 0.196 rad. State-based policy, not an end-to-end VLA.</a:t>
            </a:r>
          </a:p>
        </p:txBody>
      </p:sp>
    </p:spTree>
    <p:extLst>
      <p:ext uri="{BB962C8B-B14F-4D97-AF65-F5344CB8AC3E}">
        <p14:creationId xmlns:p14="http://schemas.microsoft.com/office/powerpoint/2010/main" val="901174762"/>
      </p:ext>
    </p:extLst>
  </p:cSld>
</p:sld>
</file>

<file path=ppt/slides/slide5.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53F9F2-1E13-4AA5-A281-A9D0C5025E33}"/>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ACTUAL PHYSICS</a:t>
            </a:r>
          </a:p>
        </p:txBody>
      </p:sp>
      <p:sp>
        <p:nvSpPr>
          <p:cNvPr id="2" name="">
            <a:extLst xmlns:a="http://schemas.openxmlformats.org/drawingml/2006/main">
              <a:ext uri="{FF2B5EF4-FFF2-40B4-BE49-F238E27FC236}">
                <a16:creationId xmlns:a16="http://schemas.microsoft.com/office/drawing/2014/main" id="{360588CE-4E22-4834-A8FD-CA1483F7D062}"/>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Two SO101 arms, with a recoverable grasp fault</a:t>
            </a:r>
          </a:p>
        </p:txBody>
      </p:sp>
      <p:sp>
        <p:nvSpPr>
          <p:cNvPr id="3" name="">
            <a:extLst xmlns:a="http://schemas.openxmlformats.org/drawingml/2006/main">
              <a:ext uri="{FF2B5EF4-FFF2-40B4-BE49-F238E27FC236}">
                <a16:creationId xmlns:a16="http://schemas.microsoft.com/office/drawing/2014/main" id="{3D0A41A7-B587-4271-85AF-55BEAA294BCA}"/>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05 / GRANTED ROBOTICS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e59bf66e5664d42"/>
          <a:stretch xmlns:a="http://schemas.openxmlformats.org/drawingml/2006/main"/>
        </p:blipFill>
        <p:spPr>
          <a:xfrm xmlns:a="http://schemas.openxmlformats.org/drawingml/2006/main">
            <a:off x="1730375" y="2000250"/>
            <a:ext cx="5207000" cy="3905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B1BF916-2B1D-4211-8AC4-DD9248484551}"/>
              </a:ext>
            </a:extLst>
          </p:cNvPr>
          <p:cNvSpPr>
            <a:spLocks xmlns:a="http://schemas.openxmlformats.org/drawingml/2006/main" noGrp="1"/>
          </p:cNvSpPr>
          <p:nvPr/>
        </p:nvSpPr>
        <p:spPr>
          <a:xfrm xmlns:a="http://schemas.openxmlformats.org/drawingml/2006/main">
            <a:off x="8477250" y="2381250"/>
            <a:ext cx="3048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BC9D2"/>
                </a:solidFill>
                <a:latin typeface="Arial"/>
                <a:ea typeface="Arial"/>
                <a:cs typeface="Arial"/>
              </a:defRPr>
            </a:pPr>
            <a:r>
              <a:rPr sz="1950" b="0">
                <a:solidFill>
                  <a:srgbClr val="BBC9D2"/>
                </a:solidFill>
                <a:latin typeface="Arial"/>
                <a:ea typeface="Arial"/>
                <a:cs typeface="Arial"/>
              </a:rPr>
              <a:t>Fault: grip loss</a:t>
            </a:r>
          </a:p>
          <a:p xmlns:a="http://schemas.openxmlformats.org/drawingml/2006/main">
            <a:r>
              <a:t/>
            </a:r>
          </a:p>
          <a:p xmlns:a="http://schemas.openxmlformats.org/drawingml/2006/main">
            <a:pPr>
              <a:defRPr sz="1950" b="0">
                <a:solidFill>
                  <a:srgbClr val="BBC9D2"/>
                </a:solidFill>
                <a:latin typeface="Arial"/>
                <a:ea typeface="Arial"/>
                <a:cs typeface="Arial"/>
              </a:defRPr>
            </a:pPr>
            <a:r>
              <a:rPr sz="1950" b="0">
                <a:solidFill>
                  <a:srgbClr val="BBC9D2"/>
                </a:solidFill>
                <a:latin typeface="Arial"/>
                <a:ea typeface="Arial"/>
                <a:cs typeface="Arial"/>
              </a:rPr>
              <a:t>Detect the displaced object</a:t>
            </a:r>
          </a:p>
          <a:p xmlns:a="http://schemas.openxmlformats.org/drawingml/2006/main">
            <a:pPr>
              <a:defRPr sz="1950" b="0">
                <a:solidFill>
                  <a:srgbClr val="BBC9D2"/>
                </a:solidFill>
                <a:latin typeface="Arial"/>
                <a:ea typeface="Arial"/>
                <a:cs typeface="Arial"/>
              </a:defRPr>
            </a:pPr>
            <a:r>
              <a:rPr sz="1950" b="0">
                <a:solidFill>
                  <a:srgbClr val="BBC9D2"/>
                </a:solidFill>
                <a:latin typeface="Arial"/>
                <a:ea typeface="Arial"/>
                <a:cs typeface="Arial"/>
              </a:rPr>
              <a:t>Regrasp</a:t>
            </a:r>
          </a:p>
          <a:p xmlns:a="http://schemas.openxmlformats.org/drawingml/2006/main">
            <a:pPr>
              <a:defRPr sz="1950" b="0">
                <a:solidFill>
                  <a:srgbClr val="BBC9D2"/>
                </a:solidFill>
                <a:latin typeface="Arial"/>
                <a:ea typeface="Arial"/>
                <a:cs typeface="Arial"/>
              </a:defRPr>
            </a:pPr>
            <a:r>
              <a:rPr sz="1950" b="0">
                <a:solidFill>
                  <a:srgbClr val="BBC9D2"/>
                </a:solidFill>
                <a:latin typeface="Arial"/>
                <a:ea typeface="Arial"/>
                <a:cs typeface="Arial"/>
              </a:rPr>
              <a:t>Verify target error</a:t>
            </a:r>
          </a:p>
        </p:txBody>
      </p:sp>
      <p:sp>
        <p:nvSpPr>
          <p:cNvPr id="6" name="">
            <a:extLst xmlns:a="http://schemas.openxmlformats.org/drawingml/2006/main">
              <a:ext uri="{FF2B5EF4-FFF2-40B4-BE49-F238E27FC236}">
                <a16:creationId xmlns:a16="http://schemas.microsoft.com/office/drawing/2014/main" id="{BBAB8E51-2AE5-460C-86BB-61C60B785987}"/>
              </a:ext>
            </a:extLst>
          </p:cNvPr>
          <p:cNvSpPr>
            <a:spLocks xmlns:a="http://schemas.openxmlformats.org/drawingml/2006/main" noGrp="1"/>
          </p:cNvSpPr>
          <p:nvPr/>
        </p:nvSpPr>
        <p:spPr>
          <a:xfrm xmlns:a="http://schemas.openxmlformats.org/drawingml/2006/main">
            <a:off x="619125" y="6000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3E3B6"/>
                </a:solidFill>
                <a:latin typeface="Arial"/>
                <a:ea typeface="Arial"/>
                <a:cs typeface="Arial"/>
              </a:defRPr>
            </a:pPr>
            <a:r>
              <a:rPr sz="1500" b="0">
                <a:solidFill>
                  <a:srgbClr val="83E3B6"/>
                </a:solidFill>
                <a:latin typeface="Arial"/>
                <a:ea typeface="Arial"/>
                <a:cs typeface="Arial"/>
              </a:rPr>
              <a:t>Video evidence: backend/evidence/so101-recovery.mp4</a:t>
            </a:r>
          </a:p>
        </p:txBody>
      </p:sp>
    </p:spTree>
    <p:extLst>
      <p:ext uri="{BB962C8B-B14F-4D97-AF65-F5344CB8AC3E}">
        <p14:creationId xmlns:p14="http://schemas.microsoft.com/office/powerpoint/2010/main" val="954865934"/>
      </p:ext>
    </p:extLst>
  </p:cSld>
</p:sld>
</file>

<file path=ppt/slides/slide6.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39E7CB-3C42-40A2-A241-9E95D494446C}"/>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50-RUN CONTROLLED EVALUATION</a:t>
            </a:r>
          </a:p>
        </p:txBody>
      </p:sp>
      <p:sp>
        <p:nvSpPr>
          <p:cNvPr id="2" name="">
            <a:extLst xmlns:a="http://schemas.openxmlformats.org/drawingml/2006/main">
              <a:ext uri="{FF2B5EF4-FFF2-40B4-BE49-F238E27FC236}">
                <a16:creationId xmlns:a16="http://schemas.microsoft.com/office/drawing/2014/main" id="{9116C952-EC02-479D-B2F1-7E0EE7235565}"/>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Recovery changed the result in the same fixture</a:t>
            </a:r>
          </a:p>
        </p:txBody>
      </p:sp>
      <p:sp>
        <p:nvSpPr>
          <p:cNvPr id="3" name="">
            <a:extLst xmlns:a="http://schemas.openxmlformats.org/drawingml/2006/main">
              <a:ext uri="{FF2B5EF4-FFF2-40B4-BE49-F238E27FC236}">
                <a16:creationId xmlns:a16="http://schemas.microsoft.com/office/drawing/2014/main" id="{F0F47E61-3C21-4083-984E-BA4BB450FD52}"/>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06 / GRANTED ROBOTICS</a:t>
            </a:r>
          </a:p>
        </p:txBody>
      </p:sp>
      <p:graphicFrame>
        <p:nvGraphicFramePr>
          <p:cNvPr id="9" name=""/>
          <p:cNvGraphicFramePr/>
          <p:nvPr/>
        </p:nvGraphicFramePr>
        <p:xfrm>
          <a:off xmlns:a="http://schemas.openxmlformats.org/drawingml/2006/main" x="619125" y="2047875"/>
          <a:ext xmlns:a="http://schemas.openxmlformats.org/drawingml/2006/main" cx="10953750" cy="3381375"/>
        </p:xfrm>
        <a:graphic xmlns:a="http://schemas.openxmlformats.org/drawingml/2006/main">
          <a:graphicData uri="http://schemas.openxmlformats.org/drawingml/2006/table">
            <a:tbl>
              <a:tblPr/>
              <a:tblGrid>
                <a:gridCol w="4476750"/>
                <a:gridCol w="1905000"/>
                <a:gridCol w="1714500"/>
                <a:gridCol w="2857500"/>
              </a:tblGrid>
              <a:tr h="563563">
                <a:tc>
                  <a:txBody>
                    <a:bodyPr/>
                    <a:lstStyle/>
                    <a:p>
                      <a:r>
                        <a:rPr sz="1875" b="1">
                          <a:solidFill>
                            <a:srgbClr val="83E3B6"/>
                          </a:solidFill>
                          <a:latin typeface="Arial"/>
                          <a:ea typeface="Arial"/>
                          <a:cs typeface="Arial"/>
                        </a:rPr>
                        <a:t>Condition</a:t>
                      </a:r>
                    </a:p>
                  </a:txBody>
                  <a:tcPr marL="91440" marR="91440" marT="45720" marB="45720">
                    <a:solidFill>
                      <a:srgbClr val="193328"/>
                    </a:solidFill>
                  </a:tcPr>
                </a:tc>
                <a:tc>
                  <a:txBody>
                    <a:bodyPr/>
                    <a:lstStyle/>
                    <a:p>
                      <a:r>
                        <a:rPr sz="1875" b="1">
                          <a:solidFill>
                            <a:srgbClr val="83E3B6"/>
                          </a:solidFill>
                          <a:latin typeface="Arial"/>
                          <a:ea typeface="Arial"/>
                          <a:cs typeface="Arial"/>
                        </a:rPr>
                        <a:t>Completed</a:t>
                      </a:r>
                    </a:p>
                  </a:txBody>
                  <a:tcPr marL="91440" marR="91440" marT="45720" marB="45720">
                    <a:solidFill>
                      <a:srgbClr val="193328"/>
                    </a:solidFill>
                  </a:tcPr>
                </a:tc>
                <a:tc>
                  <a:txBody>
                    <a:bodyPr/>
                    <a:lstStyle/>
                    <a:p>
                      <a:r>
                        <a:rPr sz="1875" b="1">
                          <a:solidFill>
                            <a:srgbClr val="83E3B6"/>
                          </a:solidFill>
                          <a:latin typeface="Arial"/>
                          <a:ea typeface="Arial"/>
                          <a:cs typeface="Arial"/>
                        </a:rPr>
                        <a:t>Blocked</a:t>
                      </a:r>
                    </a:p>
                  </a:txBody>
                  <a:tcPr marL="91440" marR="91440" marT="45720" marB="45720">
                    <a:solidFill>
                      <a:srgbClr val="193328"/>
                    </a:solidFill>
                  </a:tcPr>
                </a:tc>
                <a:tc>
                  <a:txBody>
                    <a:bodyPr/>
                    <a:lstStyle/>
                    <a:p>
                      <a:r>
                        <a:rPr sz="1875" b="1">
                          <a:solidFill>
                            <a:srgbClr val="83E3B6"/>
                          </a:solidFill>
                          <a:latin typeface="Arial"/>
                          <a:ea typeface="Arial"/>
                          <a:cs typeface="Arial"/>
                        </a:rPr>
                        <a:t>Mean cup error</a:t>
                      </a:r>
                    </a:p>
                  </a:txBody>
                  <a:tcPr marL="91440" marR="91440" marT="45720" marB="45720">
                    <a:solidFill>
                      <a:srgbClr val="193328"/>
                    </a:solidFill>
                  </a:tcPr>
                </a:tc>
              </a:tr>
              <a:tr h="563563">
                <a:tc>
                  <a:txBody>
                    <a:bodyPr/>
                    <a:lstStyle/>
                    <a:p>
                      <a:r>
                        <a:rPr sz="1875" b="0">
                          <a:solidFill>
                            <a:srgbClr val="F3F5EF"/>
                          </a:solidFill>
                          <a:latin typeface="Arial"/>
                          <a:ea typeface="Arial"/>
                          <a:cs typeface="Arial"/>
                        </a:rPr>
                        <a:t>Nominal</a:t>
                      </a:r>
                    </a:p>
                  </a:txBody>
                  <a:tcPr marL="91440" marR="91440" marT="45720" marB="45720">
                    <a:solidFill>
                      <a:srgbClr val="0B1622"/>
                    </a:solidFill>
                  </a:tcPr>
                </a:tc>
                <a:tc>
                  <a:txBody>
                    <a:bodyPr/>
                    <a:lstStyle/>
                    <a:p>
                      <a:r>
                        <a:rPr sz="1875" b="0">
                          <a:solidFill>
                            <a:srgbClr val="F3F5EF"/>
                          </a:solidFill>
                          <a:latin typeface="Arial"/>
                          <a:ea typeface="Arial"/>
                          <a:cs typeface="Arial"/>
                        </a:rPr>
                        <a:t>10 / 10</a:t>
                      </a:r>
                    </a:p>
                  </a:txBody>
                  <a:tcPr marL="91440" marR="91440" marT="45720" marB="45720">
                    <a:solidFill>
                      <a:srgbClr val="0B1622"/>
                    </a:solidFill>
                  </a:tcPr>
                </a:tc>
                <a:tc>
                  <a:txBody>
                    <a:bodyPr/>
                    <a:lstStyle/>
                    <a:p>
                      <a:r>
                        <a:rPr sz="1875" b="0">
                          <a:solidFill>
                            <a:srgbClr val="F3F5EF"/>
                          </a:solidFill>
                          <a:latin typeface="Arial"/>
                          <a:ea typeface="Arial"/>
                          <a:cs typeface="Arial"/>
                        </a:rPr>
                        <a:t>0 / 10</a:t>
                      </a:r>
                    </a:p>
                  </a:txBody>
                  <a:tcPr marL="91440" marR="91440" marT="45720" marB="45720">
                    <a:solidFill>
                      <a:srgbClr val="0B1622"/>
                    </a:solidFill>
                  </a:tcPr>
                </a:tc>
                <a:tc>
                  <a:txBody>
                    <a:bodyPr/>
                    <a:lstStyle/>
                    <a:p>
                      <a:r>
                        <a:rPr sz="1875" b="0">
                          <a:solidFill>
                            <a:srgbClr val="F3F5EF"/>
                          </a:solidFill>
                          <a:latin typeface="Arial"/>
                          <a:ea typeface="Arial"/>
                          <a:cs typeface="Arial"/>
                        </a:rPr>
                        <a:t>15.71 mm</a:t>
                      </a:r>
                    </a:p>
                  </a:txBody>
                  <a:tcPr marL="91440" marR="91440" marT="45720" marB="45720">
                    <a:solidFill>
                      <a:srgbClr val="0B1622"/>
                    </a:solidFill>
                  </a:tcPr>
                </a:tc>
              </a:tr>
              <a:tr h="563563">
                <a:tc>
                  <a:txBody>
                    <a:bodyPr/>
                    <a:lstStyle/>
                    <a:p>
                      <a:r>
                        <a:rPr sz="1875" b="0">
                          <a:solidFill>
                            <a:srgbClr val="F3F5EF"/>
                          </a:solidFill>
                          <a:latin typeface="Arial"/>
                          <a:ea typeface="Arial"/>
                          <a:cs typeface="Arial"/>
                        </a:rPr>
                        <a:t>Object moved, recovery on</a:t>
                      </a:r>
                    </a:p>
                  </a:txBody>
                  <a:tcPr marL="91440" marR="91440" marT="45720" marB="45720">
                    <a:solidFill>
                      <a:srgbClr val="0B1622"/>
                    </a:solidFill>
                  </a:tcPr>
                </a:tc>
                <a:tc>
                  <a:txBody>
                    <a:bodyPr/>
                    <a:lstStyle/>
                    <a:p>
                      <a:r>
                        <a:rPr sz="1875" b="0">
                          <a:solidFill>
                            <a:srgbClr val="F3F5EF"/>
                          </a:solidFill>
                          <a:latin typeface="Arial"/>
                          <a:ea typeface="Arial"/>
                          <a:cs typeface="Arial"/>
                        </a:rPr>
                        <a:t>10 / 10</a:t>
                      </a:r>
                    </a:p>
                  </a:txBody>
                  <a:tcPr marL="91440" marR="91440" marT="45720" marB="45720">
                    <a:solidFill>
                      <a:srgbClr val="0B1622"/>
                    </a:solidFill>
                  </a:tcPr>
                </a:tc>
                <a:tc>
                  <a:txBody>
                    <a:bodyPr/>
                    <a:lstStyle/>
                    <a:p>
                      <a:r>
                        <a:rPr sz="1875" b="0">
                          <a:solidFill>
                            <a:srgbClr val="F3F5EF"/>
                          </a:solidFill>
                          <a:latin typeface="Arial"/>
                          <a:ea typeface="Arial"/>
                          <a:cs typeface="Arial"/>
                        </a:rPr>
                        <a:t>0 / 10</a:t>
                      </a:r>
                    </a:p>
                  </a:txBody>
                  <a:tcPr marL="91440" marR="91440" marT="45720" marB="45720">
                    <a:solidFill>
                      <a:srgbClr val="0B1622"/>
                    </a:solidFill>
                  </a:tcPr>
                </a:tc>
                <a:tc>
                  <a:txBody>
                    <a:bodyPr/>
                    <a:lstStyle/>
                    <a:p>
                      <a:r>
                        <a:rPr sz="1875" b="0">
                          <a:solidFill>
                            <a:srgbClr val="F3F5EF"/>
                          </a:solidFill>
                          <a:latin typeface="Arial"/>
                          <a:ea typeface="Arial"/>
                          <a:cs typeface="Arial"/>
                        </a:rPr>
                        <a:t>9.09 mm</a:t>
                      </a:r>
                    </a:p>
                  </a:txBody>
                  <a:tcPr marL="91440" marR="91440" marT="45720" marB="45720">
                    <a:solidFill>
                      <a:srgbClr val="0B1622"/>
                    </a:solidFill>
                  </a:tcPr>
                </a:tc>
              </a:tr>
              <a:tr h="563563">
                <a:tc>
                  <a:txBody>
                    <a:bodyPr/>
                    <a:lstStyle/>
                    <a:p>
                      <a:r>
                        <a:rPr sz="1875" b="0">
                          <a:solidFill>
                            <a:srgbClr val="F3F5EF"/>
                          </a:solidFill>
                          <a:latin typeface="Arial"/>
                          <a:ea typeface="Arial"/>
                          <a:cs typeface="Arial"/>
                        </a:rPr>
                        <a:t>Grip loss, recovery on</a:t>
                      </a:r>
                    </a:p>
                  </a:txBody>
                  <a:tcPr marL="91440" marR="91440" marT="45720" marB="45720">
                    <a:solidFill>
                      <a:srgbClr val="0B1622"/>
                    </a:solidFill>
                  </a:tcPr>
                </a:tc>
                <a:tc>
                  <a:txBody>
                    <a:bodyPr/>
                    <a:lstStyle/>
                    <a:p>
                      <a:r>
                        <a:rPr sz="1875" b="0">
                          <a:solidFill>
                            <a:srgbClr val="F3F5EF"/>
                          </a:solidFill>
                          <a:latin typeface="Arial"/>
                          <a:ea typeface="Arial"/>
                          <a:cs typeface="Arial"/>
                        </a:rPr>
                        <a:t>10 / 10</a:t>
                      </a:r>
                    </a:p>
                  </a:txBody>
                  <a:tcPr marL="91440" marR="91440" marT="45720" marB="45720">
                    <a:solidFill>
                      <a:srgbClr val="0B1622"/>
                    </a:solidFill>
                  </a:tcPr>
                </a:tc>
                <a:tc>
                  <a:txBody>
                    <a:bodyPr/>
                    <a:lstStyle/>
                    <a:p>
                      <a:r>
                        <a:rPr sz="1875" b="0">
                          <a:solidFill>
                            <a:srgbClr val="F3F5EF"/>
                          </a:solidFill>
                          <a:latin typeface="Arial"/>
                          <a:ea typeface="Arial"/>
                          <a:cs typeface="Arial"/>
                        </a:rPr>
                        <a:t>0 / 10</a:t>
                      </a:r>
                    </a:p>
                  </a:txBody>
                  <a:tcPr marL="91440" marR="91440" marT="45720" marB="45720">
                    <a:solidFill>
                      <a:srgbClr val="0B1622"/>
                    </a:solidFill>
                  </a:tcPr>
                </a:tc>
                <a:tc>
                  <a:txBody>
                    <a:bodyPr/>
                    <a:lstStyle/>
                    <a:p>
                      <a:r>
                        <a:rPr sz="1875" b="0">
                          <a:solidFill>
                            <a:srgbClr val="F3F5EF"/>
                          </a:solidFill>
                          <a:latin typeface="Arial"/>
                          <a:ea typeface="Arial"/>
                          <a:cs typeface="Arial"/>
                        </a:rPr>
                        <a:t>14.05 mm</a:t>
                      </a:r>
                    </a:p>
                  </a:txBody>
                  <a:tcPr marL="91440" marR="91440" marT="45720" marB="45720">
                    <a:solidFill>
                      <a:srgbClr val="0B1622"/>
                    </a:solidFill>
                  </a:tcPr>
                </a:tc>
              </a:tr>
              <a:tr h="563563">
                <a:tc>
                  <a:txBody>
                    <a:bodyPr/>
                    <a:lstStyle/>
                    <a:p>
                      <a:r>
                        <a:rPr sz="1875" b="0">
                          <a:solidFill>
                            <a:srgbClr val="F3F5EF"/>
                          </a:solidFill>
                          <a:latin typeface="Arial"/>
                          <a:ea typeface="Arial"/>
                          <a:cs typeface="Arial"/>
                        </a:rPr>
                        <a:t>Grip loss, recovery off</a:t>
                      </a:r>
                    </a:p>
                  </a:txBody>
                  <a:tcPr marL="91440" marR="91440" marT="45720" marB="45720">
                    <a:solidFill>
                      <a:srgbClr val="0B1622"/>
                    </a:solidFill>
                  </a:tcPr>
                </a:tc>
                <a:tc>
                  <a:txBody>
                    <a:bodyPr/>
                    <a:lstStyle/>
                    <a:p>
                      <a:r>
                        <a:rPr sz="1875" b="0">
                          <a:solidFill>
                            <a:srgbClr val="F3F5EF"/>
                          </a:solidFill>
                          <a:latin typeface="Arial"/>
                          <a:ea typeface="Arial"/>
                          <a:cs typeface="Arial"/>
                        </a:rPr>
                        <a:t>0 / 10</a:t>
                      </a:r>
                    </a:p>
                  </a:txBody>
                  <a:tcPr marL="91440" marR="91440" marT="45720" marB="45720">
                    <a:solidFill>
                      <a:srgbClr val="0B1622"/>
                    </a:solidFill>
                  </a:tcPr>
                </a:tc>
                <a:tc>
                  <a:txBody>
                    <a:bodyPr/>
                    <a:lstStyle/>
                    <a:p>
                      <a:r>
                        <a:rPr sz="1875" b="0">
                          <a:solidFill>
                            <a:srgbClr val="F3F5EF"/>
                          </a:solidFill>
                          <a:latin typeface="Arial"/>
                          <a:ea typeface="Arial"/>
                          <a:cs typeface="Arial"/>
                        </a:rPr>
                        <a:t>0 / 10</a:t>
                      </a:r>
                    </a:p>
                  </a:txBody>
                  <a:tcPr marL="91440" marR="91440" marT="45720" marB="45720">
                    <a:solidFill>
                      <a:srgbClr val="0B1622"/>
                    </a:solidFill>
                  </a:tcPr>
                </a:tc>
                <a:tc>
                  <a:txBody>
                    <a:bodyPr/>
                    <a:lstStyle/>
                    <a:p>
                      <a:r>
                        <a:rPr sz="1875" b="0">
                          <a:solidFill>
                            <a:srgbClr val="F3F5EF"/>
                          </a:solidFill>
                          <a:latin typeface="Arial"/>
                          <a:ea typeface="Arial"/>
                          <a:cs typeface="Arial"/>
                        </a:rPr>
                        <a:t>160.96 mm</a:t>
                      </a:r>
                    </a:p>
                  </a:txBody>
                  <a:tcPr marL="91440" marR="91440" marT="45720" marB="45720">
                    <a:solidFill>
                      <a:srgbClr val="0B1622"/>
                    </a:solidFill>
                  </a:tcPr>
                </a:tc>
              </a:tr>
              <a:tr h="563563">
                <a:tc>
                  <a:txBody>
                    <a:bodyPr/>
                    <a:lstStyle/>
                    <a:p>
                      <a:r>
                        <a:rPr sz="1875" b="0">
                          <a:solidFill>
                            <a:srgbClr val="F3F5EF"/>
                          </a:solidFill>
                          <a:latin typeface="Arial"/>
                          <a:ea typeface="Arial"/>
                          <a:cs typeface="Arial"/>
                        </a:rPr>
                        <a:t>Obstacle present</a:t>
                      </a:r>
                    </a:p>
                  </a:txBody>
                  <a:tcPr marL="91440" marR="91440" marT="45720" marB="45720">
                    <a:solidFill>
                      <a:srgbClr val="0B1622"/>
                    </a:solidFill>
                  </a:tcPr>
                </a:tc>
                <a:tc>
                  <a:txBody>
                    <a:bodyPr/>
                    <a:lstStyle/>
                    <a:p>
                      <a:r>
                        <a:rPr sz="1875" b="0">
                          <a:solidFill>
                            <a:srgbClr val="F3F5EF"/>
                          </a:solidFill>
                          <a:latin typeface="Arial"/>
                          <a:ea typeface="Arial"/>
                          <a:cs typeface="Arial"/>
                        </a:rPr>
                        <a:t>0 / 10</a:t>
                      </a:r>
                    </a:p>
                  </a:txBody>
                  <a:tcPr marL="91440" marR="91440" marT="45720" marB="45720">
                    <a:solidFill>
                      <a:srgbClr val="0B1622"/>
                    </a:solidFill>
                  </a:tcPr>
                </a:tc>
                <a:tc>
                  <a:txBody>
                    <a:bodyPr/>
                    <a:lstStyle/>
                    <a:p>
                      <a:r>
                        <a:rPr sz="1875" b="0">
                          <a:solidFill>
                            <a:srgbClr val="F3F5EF"/>
                          </a:solidFill>
                          <a:latin typeface="Arial"/>
                          <a:ea typeface="Arial"/>
                          <a:cs typeface="Arial"/>
                        </a:rPr>
                        <a:t>10 / 10</a:t>
                      </a:r>
                    </a:p>
                  </a:txBody>
                  <a:tcPr marL="91440" marR="91440" marT="45720" marB="45720">
                    <a:solidFill>
                      <a:srgbClr val="0B1622"/>
                    </a:solidFill>
                  </a:tcPr>
                </a:tc>
                <a:tc>
                  <a:txBody>
                    <a:bodyPr/>
                    <a:lstStyle/>
                    <a:p>
                      <a:r>
                        <a:rPr sz="1875" b="0">
                          <a:solidFill>
                            <a:srgbClr val="F3F5EF"/>
                          </a:solidFill>
                          <a:latin typeface="Arial"/>
                          <a:ea typeface="Arial"/>
                          <a:cs typeface="Arial"/>
                        </a:rPr>
                        <a:t>169.10 mm</a:t>
                      </a:r>
                    </a:p>
                  </a:txBody>
                  <a:tcPr marL="91440" marR="91440" marT="45720" marB="45720">
                    <a:solidFill>
                      <a:srgbClr val="0B1622"/>
                    </a:solidFill>
                  </a:tcPr>
                </a:tc>
              </a:tr>
            </a:tbl>
          </a:graphicData>
        </a:graphic>
      </p:graphicFrame>
      <p:sp>
        <p:nvSpPr>
          <p:cNvPr id="5" name="">
            <a:extLst xmlns:a="http://schemas.openxmlformats.org/drawingml/2006/main">
              <a:ext uri="{FF2B5EF4-FFF2-40B4-BE49-F238E27FC236}">
                <a16:creationId xmlns:a16="http://schemas.microsoft.com/office/drawing/2014/main" id="{5692456F-7A48-4FA8-894F-E0AE8D468B83}"/>
              </a:ext>
            </a:extLst>
          </p:cNvPr>
          <p:cNvSpPr>
            <a:spLocks xmlns:a="http://schemas.openxmlformats.org/drawingml/2006/main" noGrp="1"/>
          </p:cNvSpPr>
          <p:nvPr/>
        </p:nvSpPr>
        <p:spPr>
          <a:xfrm xmlns:a="http://schemas.openxmlformats.org/drawingml/2006/main">
            <a:off x="619125" y="57054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BC9D2"/>
                </a:solidFill>
                <a:latin typeface="Arial"/>
                <a:ea typeface="Arial"/>
                <a:cs typeface="Arial"/>
              </a:defRPr>
            </a:pPr>
            <a:r>
              <a:rPr sz="1650" b="0">
                <a:solidFill>
                  <a:srgbClr val="BBC9D2"/>
                </a:solidFill>
                <a:latin typeface="Arial"/>
                <a:ea typeface="Arial"/>
                <a:cs typeface="Arial"/>
              </a:rPr>
              <a:t>Randomized XY, mass, friction, cylinder size, lighting, and table color.</a:t>
            </a:r>
          </a:p>
        </p:txBody>
      </p:sp>
    </p:spTree>
    <p:extLst>
      <p:ext uri="{BB962C8B-B14F-4D97-AF65-F5344CB8AC3E}">
        <p14:creationId xmlns:p14="http://schemas.microsoft.com/office/powerpoint/2010/main" val="960423784"/>
      </p:ext>
    </p:extLst>
  </p:cSld>
</p:sld>
</file>

<file path=ppt/slides/slide7.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986275-3ADB-4132-9BDD-987998E0A791}"/>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PER-SEED EVIDENCE</a:t>
            </a:r>
          </a:p>
        </p:txBody>
      </p:sp>
      <p:sp>
        <p:nvSpPr>
          <p:cNvPr id="2" name="">
            <a:extLst xmlns:a="http://schemas.openxmlformats.org/drawingml/2006/main">
              <a:ext uri="{FF2B5EF4-FFF2-40B4-BE49-F238E27FC236}">
                <a16:creationId xmlns:a16="http://schemas.microsoft.com/office/drawing/2014/main" id="{A0E258CF-F13A-4286-8771-7AF896FCEA8A}"/>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Every recovered seed retains its measured error</a:t>
            </a:r>
          </a:p>
        </p:txBody>
      </p:sp>
      <p:sp>
        <p:nvSpPr>
          <p:cNvPr id="3" name="">
            <a:extLst xmlns:a="http://schemas.openxmlformats.org/drawingml/2006/main">
              <a:ext uri="{FF2B5EF4-FFF2-40B4-BE49-F238E27FC236}">
                <a16:creationId xmlns:a16="http://schemas.microsoft.com/office/drawing/2014/main" id="{9E9532F5-5E82-4F36-8606-71A87BE14B4C}"/>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07 / GRANTED ROBOTICS</a:t>
            </a:r>
          </a:p>
        </p:txBody>
      </p:sp>
      <p:graphicFrame>
        <p:nvGraphicFramePr>
          <p:cNvPr id="11" name=""/>
          <p:cNvGraphicFramePr/>
          <p:nvPr/>
        </p:nvGraphicFramePr>
        <p:xfrm>
          <a:off xmlns:a="http://schemas.openxmlformats.org/drawingml/2006/main" x="619125" y="1952625"/>
          <a:ext xmlns:a="http://schemas.openxmlformats.org/drawingml/2006/main" cx="5810250" cy="3876675"/>
        </p:xfrm>
        <a:graphic xmlns:a="http://schemas.openxmlformats.org/drawingml/2006/main">
          <a:graphicData uri="http://schemas.openxmlformats.org/drawingml/2006/table">
            <a:tbl>
              <a:tblPr/>
              <a:tblGrid>
                <a:gridCol w="1428750"/>
                <a:gridCol w="2190750"/>
                <a:gridCol w="2190750"/>
              </a:tblGrid>
              <a:tr h="352425">
                <a:tc>
                  <a:txBody>
                    <a:bodyPr/>
                    <a:lstStyle/>
                    <a:p>
                      <a:r>
                        <a:rPr sz="1575" b="1">
                          <a:solidFill>
                            <a:srgbClr val="83E3B6"/>
                          </a:solidFill>
                          <a:latin typeface="Arial"/>
                          <a:ea typeface="Arial"/>
                          <a:cs typeface="Arial"/>
                        </a:rPr>
                        <a:t>Seed</a:t>
                      </a:r>
                    </a:p>
                  </a:txBody>
                  <a:tcPr marL="91440" marR="91440" marT="45720" marB="45720">
                    <a:solidFill>
                      <a:srgbClr val="193328"/>
                    </a:solidFill>
                  </a:tcPr>
                </a:tc>
                <a:tc>
                  <a:txBody>
                    <a:bodyPr/>
                    <a:lstStyle/>
                    <a:p>
                      <a:r>
                        <a:rPr sz="1575" b="1">
                          <a:solidFill>
                            <a:srgbClr val="83E3B6"/>
                          </a:solidFill>
                          <a:latin typeface="Arial"/>
                          <a:ea typeface="Arial"/>
                          <a:cs typeface="Arial"/>
                        </a:rPr>
                        <a:t>Cup error</a:t>
                      </a:r>
                    </a:p>
                  </a:txBody>
                  <a:tcPr marL="91440" marR="91440" marT="45720" marB="45720">
                    <a:solidFill>
                      <a:srgbClr val="193328"/>
                    </a:solidFill>
                  </a:tcPr>
                </a:tc>
                <a:tc>
                  <a:txBody>
                    <a:bodyPr/>
                    <a:lstStyle/>
                    <a:p>
                      <a:r>
                        <a:rPr sz="1575" b="1">
                          <a:solidFill>
                            <a:srgbClr val="83E3B6"/>
                          </a:solidFill>
                          <a:latin typeface="Arial"/>
                          <a:ea typeface="Arial"/>
                          <a:cs typeface="Arial"/>
                        </a:rPr>
                        <a:t>Bowl error</a:t>
                      </a:r>
                    </a:p>
                  </a:txBody>
                  <a:tcPr marL="91440" marR="91440" marT="45720" marB="45720">
                    <a:solidFill>
                      <a:srgbClr val="193328"/>
                    </a:solidFill>
                  </a:tcPr>
                </a:tc>
              </a:tr>
              <a:tr h="352425">
                <a:tc>
                  <a:txBody>
                    <a:bodyPr/>
                    <a:lstStyle/>
                    <a:p>
                      <a:r>
                        <a:rPr sz="1575" b="0">
                          <a:solidFill>
                            <a:srgbClr val="F3F5EF"/>
                          </a:solidFill>
                          <a:latin typeface="Arial"/>
                          <a:ea typeface="Arial"/>
                          <a:cs typeface="Arial"/>
                        </a:rPr>
                        <a:t>0</a:t>
                      </a:r>
                    </a:p>
                  </a:txBody>
                  <a:tcPr marL="91440" marR="91440" marT="45720" marB="45720">
                    <a:solidFill>
                      <a:srgbClr val="0B1622"/>
                    </a:solidFill>
                  </a:tcPr>
                </a:tc>
                <a:tc>
                  <a:txBody>
                    <a:bodyPr/>
                    <a:lstStyle/>
                    <a:p>
                      <a:r>
                        <a:rPr sz="1575" b="0">
                          <a:solidFill>
                            <a:srgbClr val="F3F5EF"/>
                          </a:solidFill>
                          <a:latin typeface="Arial"/>
                          <a:ea typeface="Arial"/>
                          <a:cs typeface="Arial"/>
                        </a:rPr>
                        <a:t>15.11 mm</a:t>
                      </a:r>
                    </a:p>
                  </a:txBody>
                  <a:tcPr marL="91440" marR="91440" marT="45720" marB="45720">
                    <a:solidFill>
                      <a:srgbClr val="0B1622"/>
                    </a:solidFill>
                  </a:tcPr>
                </a:tc>
                <a:tc>
                  <a:txBody>
                    <a:bodyPr/>
                    <a:lstStyle/>
                    <a:p>
                      <a:r>
                        <a:rPr sz="1575" b="0">
                          <a:solidFill>
                            <a:srgbClr val="F3F5EF"/>
                          </a:solidFill>
                          <a:latin typeface="Arial"/>
                          <a:ea typeface="Arial"/>
                          <a:cs typeface="Arial"/>
                        </a:rPr>
                        <a:t>13.16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1</a:t>
                      </a:r>
                    </a:p>
                  </a:txBody>
                  <a:tcPr marL="91440" marR="91440" marT="45720" marB="45720">
                    <a:solidFill>
                      <a:srgbClr val="0B1622"/>
                    </a:solidFill>
                  </a:tcPr>
                </a:tc>
                <a:tc>
                  <a:txBody>
                    <a:bodyPr/>
                    <a:lstStyle/>
                    <a:p>
                      <a:r>
                        <a:rPr sz="1575" b="0">
                          <a:solidFill>
                            <a:srgbClr val="F3F5EF"/>
                          </a:solidFill>
                          <a:latin typeface="Arial"/>
                          <a:ea typeface="Arial"/>
                          <a:cs typeface="Arial"/>
                        </a:rPr>
                        <a:t>12.73 mm</a:t>
                      </a:r>
                    </a:p>
                  </a:txBody>
                  <a:tcPr marL="91440" marR="91440" marT="45720" marB="45720">
                    <a:solidFill>
                      <a:srgbClr val="0B1622"/>
                    </a:solidFill>
                  </a:tcPr>
                </a:tc>
                <a:tc>
                  <a:txBody>
                    <a:bodyPr/>
                    <a:lstStyle/>
                    <a:p>
                      <a:r>
                        <a:rPr sz="1575" b="0">
                          <a:solidFill>
                            <a:srgbClr val="F3F5EF"/>
                          </a:solidFill>
                          <a:latin typeface="Arial"/>
                          <a:ea typeface="Arial"/>
                          <a:cs typeface="Arial"/>
                        </a:rPr>
                        <a:t>12.56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2</a:t>
                      </a:r>
                    </a:p>
                  </a:txBody>
                  <a:tcPr marL="91440" marR="91440" marT="45720" marB="45720">
                    <a:solidFill>
                      <a:srgbClr val="0B1622"/>
                    </a:solidFill>
                  </a:tcPr>
                </a:tc>
                <a:tc>
                  <a:txBody>
                    <a:bodyPr/>
                    <a:lstStyle/>
                    <a:p>
                      <a:r>
                        <a:rPr sz="1575" b="0">
                          <a:solidFill>
                            <a:srgbClr val="F3F5EF"/>
                          </a:solidFill>
                          <a:latin typeface="Arial"/>
                          <a:ea typeface="Arial"/>
                          <a:cs typeface="Arial"/>
                        </a:rPr>
                        <a:t>15.67 mm</a:t>
                      </a:r>
                    </a:p>
                  </a:txBody>
                  <a:tcPr marL="91440" marR="91440" marT="45720" marB="45720">
                    <a:solidFill>
                      <a:srgbClr val="0B1622"/>
                    </a:solidFill>
                  </a:tcPr>
                </a:tc>
                <a:tc>
                  <a:txBody>
                    <a:bodyPr/>
                    <a:lstStyle/>
                    <a:p>
                      <a:r>
                        <a:rPr sz="1575" b="0">
                          <a:solidFill>
                            <a:srgbClr val="F3F5EF"/>
                          </a:solidFill>
                          <a:latin typeface="Arial"/>
                          <a:ea typeface="Arial"/>
                          <a:cs typeface="Arial"/>
                        </a:rPr>
                        <a:t>12.62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3</a:t>
                      </a:r>
                    </a:p>
                  </a:txBody>
                  <a:tcPr marL="91440" marR="91440" marT="45720" marB="45720">
                    <a:solidFill>
                      <a:srgbClr val="0B1622"/>
                    </a:solidFill>
                  </a:tcPr>
                </a:tc>
                <a:tc>
                  <a:txBody>
                    <a:bodyPr/>
                    <a:lstStyle/>
                    <a:p>
                      <a:r>
                        <a:rPr sz="1575" b="0">
                          <a:solidFill>
                            <a:srgbClr val="F3F5EF"/>
                          </a:solidFill>
                          <a:latin typeface="Arial"/>
                          <a:ea typeface="Arial"/>
                          <a:cs typeface="Arial"/>
                        </a:rPr>
                        <a:t>15.09 mm</a:t>
                      </a:r>
                    </a:p>
                  </a:txBody>
                  <a:tcPr marL="91440" marR="91440" marT="45720" marB="45720">
                    <a:solidFill>
                      <a:srgbClr val="0B1622"/>
                    </a:solidFill>
                  </a:tcPr>
                </a:tc>
                <a:tc>
                  <a:txBody>
                    <a:bodyPr/>
                    <a:lstStyle/>
                    <a:p>
                      <a:r>
                        <a:rPr sz="1575" b="0">
                          <a:solidFill>
                            <a:srgbClr val="F3F5EF"/>
                          </a:solidFill>
                          <a:latin typeface="Arial"/>
                          <a:ea typeface="Arial"/>
                          <a:cs typeface="Arial"/>
                        </a:rPr>
                        <a:t>12.67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4</a:t>
                      </a:r>
                    </a:p>
                  </a:txBody>
                  <a:tcPr marL="91440" marR="91440" marT="45720" marB="45720">
                    <a:solidFill>
                      <a:srgbClr val="0B1622"/>
                    </a:solidFill>
                  </a:tcPr>
                </a:tc>
                <a:tc>
                  <a:txBody>
                    <a:bodyPr/>
                    <a:lstStyle/>
                    <a:p>
                      <a:r>
                        <a:rPr sz="1575" b="0">
                          <a:solidFill>
                            <a:srgbClr val="F3F5EF"/>
                          </a:solidFill>
                          <a:latin typeface="Arial"/>
                          <a:ea typeface="Arial"/>
                          <a:cs typeface="Arial"/>
                        </a:rPr>
                        <a:t>12.81 mm</a:t>
                      </a:r>
                    </a:p>
                  </a:txBody>
                  <a:tcPr marL="91440" marR="91440" marT="45720" marB="45720">
                    <a:solidFill>
                      <a:srgbClr val="0B1622"/>
                    </a:solidFill>
                  </a:tcPr>
                </a:tc>
                <a:tc>
                  <a:txBody>
                    <a:bodyPr/>
                    <a:lstStyle/>
                    <a:p>
                      <a:r>
                        <a:rPr sz="1575" b="0">
                          <a:solidFill>
                            <a:srgbClr val="F3F5EF"/>
                          </a:solidFill>
                          <a:latin typeface="Arial"/>
                          <a:ea typeface="Arial"/>
                          <a:cs typeface="Arial"/>
                        </a:rPr>
                        <a:t>12.26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5</a:t>
                      </a:r>
                    </a:p>
                  </a:txBody>
                  <a:tcPr marL="91440" marR="91440" marT="45720" marB="45720">
                    <a:solidFill>
                      <a:srgbClr val="0B1622"/>
                    </a:solidFill>
                  </a:tcPr>
                </a:tc>
                <a:tc>
                  <a:txBody>
                    <a:bodyPr/>
                    <a:lstStyle/>
                    <a:p>
                      <a:r>
                        <a:rPr sz="1575" b="0">
                          <a:solidFill>
                            <a:srgbClr val="F3F5EF"/>
                          </a:solidFill>
                          <a:latin typeface="Arial"/>
                          <a:ea typeface="Arial"/>
                          <a:cs typeface="Arial"/>
                        </a:rPr>
                        <a:t>12.53 mm</a:t>
                      </a:r>
                    </a:p>
                  </a:txBody>
                  <a:tcPr marL="91440" marR="91440" marT="45720" marB="45720">
                    <a:solidFill>
                      <a:srgbClr val="0B1622"/>
                    </a:solidFill>
                  </a:tcPr>
                </a:tc>
                <a:tc>
                  <a:txBody>
                    <a:bodyPr/>
                    <a:lstStyle/>
                    <a:p>
                      <a:r>
                        <a:rPr sz="1575" b="0">
                          <a:solidFill>
                            <a:srgbClr val="F3F5EF"/>
                          </a:solidFill>
                          <a:latin typeface="Arial"/>
                          <a:ea typeface="Arial"/>
                          <a:cs typeface="Arial"/>
                        </a:rPr>
                        <a:t>12.72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6</a:t>
                      </a:r>
                    </a:p>
                  </a:txBody>
                  <a:tcPr marL="91440" marR="91440" marT="45720" marB="45720">
                    <a:solidFill>
                      <a:srgbClr val="0B1622"/>
                    </a:solidFill>
                  </a:tcPr>
                </a:tc>
                <a:tc>
                  <a:txBody>
                    <a:bodyPr/>
                    <a:lstStyle/>
                    <a:p>
                      <a:r>
                        <a:rPr sz="1575" b="0">
                          <a:solidFill>
                            <a:srgbClr val="F3F5EF"/>
                          </a:solidFill>
                          <a:latin typeface="Arial"/>
                          <a:ea typeface="Arial"/>
                          <a:cs typeface="Arial"/>
                        </a:rPr>
                        <a:t>16.68 mm</a:t>
                      </a:r>
                    </a:p>
                  </a:txBody>
                  <a:tcPr marL="91440" marR="91440" marT="45720" marB="45720">
                    <a:solidFill>
                      <a:srgbClr val="0B1622"/>
                    </a:solidFill>
                  </a:tcPr>
                </a:tc>
                <a:tc>
                  <a:txBody>
                    <a:bodyPr/>
                    <a:lstStyle/>
                    <a:p>
                      <a:r>
                        <a:rPr sz="1575" b="0">
                          <a:solidFill>
                            <a:srgbClr val="F3F5EF"/>
                          </a:solidFill>
                          <a:latin typeface="Arial"/>
                          <a:ea typeface="Arial"/>
                          <a:cs typeface="Arial"/>
                        </a:rPr>
                        <a:t>12.97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7</a:t>
                      </a:r>
                    </a:p>
                  </a:txBody>
                  <a:tcPr marL="91440" marR="91440" marT="45720" marB="45720">
                    <a:solidFill>
                      <a:srgbClr val="0B1622"/>
                    </a:solidFill>
                  </a:tcPr>
                </a:tc>
                <a:tc>
                  <a:txBody>
                    <a:bodyPr/>
                    <a:lstStyle/>
                    <a:p>
                      <a:r>
                        <a:rPr sz="1575" b="0">
                          <a:solidFill>
                            <a:srgbClr val="F3F5EF"/>
                          </a:solidFill>
                          <a:latin typeface="Arial"/>
                          <a:ea typeface="Arial"/>
                          <a:cs typeface="Arial"/>
                        </a:rPr>
                        <a:t>13.72 mm</a:t>
                      </a:r>
                    </a:p>
                  </a:txBody>
                  <a:tcPr marL="91440" marR="91440" marT="45720" marB="45720">
                    <a:solidFill>
                      <a:srgbClr val="0B1622"/>
                    </a:solidFill>
                  </a:tcPr>
                </a:tc>
                <a:tc>
                  <a:txBody>
                    <a:bodyPr/>
                    <a:lstStyle/>
                    <a:p>
                      <a:r>
                        <a:rPr sz="1575" b="0">
                          <a:solidFill>
                            <a:srgbClr val="F3F5EF"/>
                          </a:solidFill>
                          <a:latin typeface="Arial"/>
                          <a:ea typeface="Arial"/>
                          <a:cs typeface="Arial"/>
                        </a:rPr>
                        <a:t>13.50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8</a:t>
                      </a:r>
                    </a:p>
                  </a:txBody>
                  <a:tcPr marL="91440" marR="91440" marT="45720" marB="45720">
                    <a:solidFill>
                      <a:srgbClr val="0B1622"/>
                    </a:solidFill>
                  </a:tcPr>
                </a:tc>
                <a:tc>
                  <a:txBody>
                    <a:bodyPr/>
                    <a:lstStyle/>
                    <a:p>
                      <a:r>
                        <a:rPr sz="1575" b="0">
                          <a:solidFill>
                            <a:srgbClr val="F3F5EF"/>
                          </a:solidFill>
                          <a:latin typeface="Arial"/>
                          <a:ea typeface="Arial"/>
                          <a:cs typeface="Arial"/>
                        </a:rPr>
                        <a:t>12.35 mm</a:t>
                      </a:r>
                    </a:p>
                  </a:txBody>
                  <a:tcPr marL="91440" marR="91440" marT="45720" marB="45720">
                    <a:solidFill>
                      <a:srgbClr val="0B1622"/>
                    </a:solidFill>
                  </a:tcPr>
                </a:tc>
                <a:tc>
                  <a:txBody>
                    <a:bodyPr/>
                    <a:lstStyle/>
                    <a:p>
                      <a:r>
                        <a:rPr sz="1575" b="0">
                          <a:solidFill>
                            <a:srgbClr val="F3F5EF"/>
                          </a:solidFill>
                          <a:latin typeface="Arial"/>
                          <a:ea typeface="Arial"/>
                          <a:cs typeface="Arial"/>
                        </a:rPr>
                        <a:t>12.95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9</a:t>
                      </a:r>
                    </a:p>
                  </a:txBody>
                  <a:tcPr marL="91440" marR="91440" marT="45720" marB="45720">
                    <a:solidFill>
                      <a:srgbClr val="0B1622"/>
                    </a:solidFill>
                  </a:tcPr>
                </a:tc>
                <a:tc>
                  <a:txBody>
                    <a:bodyPr/>
                    <a:lstStyle/>
                    <a:p>
                      <a:r>
                        <a:rPr sz="1575" b="0">
                          <a:solidFill>
                            <a:srgbClr val="F3F5EF"/>
                          </a:solidFill>
                          <a:latin typeface="Arial"/>
                          <a:ea typeface="Arial"/>
                          <a:cs typeface="Arial"/>
                        </a:rPr>
                        <a:t>13.79 mm</a:t>
                      </a:r>
                    </a:p>
                  </a:txBody>
                  <a:tcPr marL="91440" marR="91440" marT="45720" marB="45720">
                    <a:solidFill>
                      <a:srgbClr val="0B1622"/>
                    </a:solidFill>
                  </a:tcPr>
                </a:tc>
                <a:tc>
                  <a:txBody>
                    <a:bodyPr/>
                    <a:lstStyle/>
                    <a:p>
                      <a:r>
                        <a:rPr sz="1575" b="0">
                          <a:solidFill>
                            <a:srgbClr val="F3F5EF"/>
                          </a:solidFill>
                          <a:latin typeface="Arial"/>
                          <a:ea typeface="Arial"/>
                          <a:cs typeface="Arial"/>
                        </a:rPr>
                        <a:t>13.11 mm</a:t>
                      </a:r>
                    </a:p>
                  </a:txBody>
                  <a:tcPr marL="91440" marR="91440" marT="45720" marB="45720">
                    <a:solidFill>
                      <a:srgbClr val="0B1622"/>
                    </a:solidFill>
                  </a:tcPr>
                </a:tc>
              </a:tr>
            </a:tbl>
          </a:graphicData>
        </a:graphic>
      </p:graphicFrame>
      <p:graphicFrame>
        <p:nvGraphicFramePr>
          <p:cNvPr id="12" name="Chart"/>
          <p:cNvGraphicFramePr/>
          <p:nvPr/>
        </p:nvGraphicFramePr>
        <p:xfrm>
          <a:off xmlns:a="http://schemas.openxmlformats.org/drawingml/2006/main" x="6953250" y="2428875"/>
          <a:ext xmlns:a="http://schemas.openxmlformats.org/drawingml/2006/main" cx="4286250" cy="3048000"/>
        </p:xfrm>
        <a:graphic xmlns:a="http://schemas.openxmlformats.org/drawingml/2006/main">
          <a:graphicData uri="http://schemas.openxmlformats.org/drawingml/2006/chart">
            <c:chart xmlns:r="http://schemas.openxmlformats.org/officeDocument/2006/relationships" xmlns:c="http://schemas.openxmlformats.org/drawingml/2006/chart" r:id="R4cb1ebd2f53b4072"/>
          </a:graphicData>
        </a:graphic>
      </p:graphicFrame>
      <p:sp>
        <p:nvSpPr>
          <p:cNvPr id="6" name="">
            <a:extLst xmlns:a="http://schemas.openxmlformats.org/drawingml/2006/main">
              <a:ext uri="{FF2B5EF4-FFF2-40B4-BE49-F238E27FC236}">
                <a16:creationId xmlns:a16="http://schemas.microsoft.com/office/drawing/2014/main" id="{92612179-8FF5-4EAD-81A6-F9C33C608F87}"/>
              </a:ext>
            </a:extLst>
          </p:cNvPr>
          <p:cNvSpPr>
            <a:spLocks xmlns:a="http://schemas.openxmlformats.org/drawingml/2006/main" noGrp="1"/>
          </p:cNvSpPr>
          <p:nvPr/>
        </p:nvSpPr>
        <p:spPr>
          <a:xfrm xmlns:a="http://schemas.openxmlformats.org/drawingml/2006/main">
            <a:off x="7000875" y="19526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3E3B6"/>
                </a:solidFill>
                <a:latin typeface="Arial"/>
                <a:ea typeface="Arial"/>
                <a:cs typeface="Arial"/>
              </a:defRPr>
            </a:pPr>
            <a:r>
              <a:rPr sz="1800" b="0">
                <a:solidFill>
                  <a:srgbClr val="83E3B6"/>
                </a:solidFill>
                <a:latin typeface="Arial"/>
                <a:ea typeface="Arial"/>
                <a:cs typeface="Arial"/>
              </a:rPr>
              <a:t>Mean cup error, mm</a:t>
            </a:r>
          </a:p>
        </p:txBody>
      </p:sp>
      <p:sp>
        <p:nvSpPr>
          <p:cNvPr id="7" name="">
            <a:extLst xmlns:a="http://schemas.openxmlformats.org/drawingml/2006/main">
              <a:ext uri="{FF2B5EF4-FFF2-40B4-BE49-F238E27FC236}">
                <a16:creationId xmlns:a16="http://schemas.microsoft.com/office/drawing/2014/main" id="{31EBD4F6-19FF-42A6-A91C-AE3BB356F3C7}"/>
              </a:ext>
            </a:extLst>
          </p:cNvPr>
          <p:cNvSpPr>
            <a:spLocks xmlns:a="http://schemas.openxmlformats.org/drawingml/2006/main" noGrp="1"/>
          </p:cNvSpPr>
          <p:nvPr/>
        </p:nvSpPr>
        <p:spPr>
          <a:xfrm xmlns:a="http://schemas.openxmlformats.org/drawingml/2006/main">
            <a:off x="619125" y="60102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BC9D2"/>
                </a:solidFill>
                <a:latin typeface="Arial"/>
                <a:ea typeface="Arial"/>
                <a:cs typeface="Arial"/>
              </a:defRPr>
            </a:pPr>
            <a:r>
              <a:rPr sz="1500" b="0">
                <a:solidFill>
                  <a:srgbClr val="BBC9D2"/>
                </a:solidFill>
                <a:latin typeface="Arial"/>
                <a:ea typeface="Arial"/>
                <a:cs typeface="Arial"/>
              </a:rPr>
              <a:t>Source: backend/evidence/evaluation.json</a:t>
            </a:r>
          </a:p>
        </p:txBody>
      </p:sp>
    </p:spTree>
    <p:extLst>
      <p:ext uri="{BB962C8B-B14F-4D97-AF65-F5344CB8AC3E}">
        <p14:creationId xmlns:p14="http://schemas.microsoft.com/office/powerpoint/2010/main" val="443186743"/>
      </p:ext>
    </p:extLst>
  </p:cSld>
</p:sld>
</file>

<file path=ppt/slides/slide8.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ABE843-C463-46FC-9232-8CC08616ABBA}"/>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OPENVINO MICROBENCHMARK</a:t>
            </a:r>
          </a:p>
        </p:txBody>
      </p:sp>
      <p:sp>
        <p:nvSpPr>
          <p:cNvPr id="2" name="">
            <a:extLst xmlns:a="http://schemas.openxmlformats.org/drawingml/2006/main">
              <a:ext uri="{FF2B5EF4-FFF2-40B4-BE49-F238E27FC236}">
                <a16:creationId xmlns:a16="http://schemas.microsoft.com/office/drawing/2014/main" id="{4721F5B6-A250-4EF2-91AE-02060A608547}"/>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Learned proposals reduce numerical correction work</a:t>
            </a:r>
          </a:p>
        </p:txBody>
      </p:sp>
      <p:sp>
        <p:nvSpPr>
          <p:cNvPr id="3" name="">
            <a:extLst xmlns:a="http://schemas.openxmlformats.org/drawingml/2006/main">
              <a:ext uri="{FF2B5EF4-FFF2-40B4-BE49-F238E27FC236}">
                <a16:creationId xmlns:a16="http://schemas.microsoft.com/office/drawing/2014/main" id="{C164FEAF-867A-44F9-A838-EA3C90F3AE44}"/>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08 / GRANTED ROBOTICS</a:t>
            </a:r>
          </a:p>
        </p:txBody>
      </p:sp>
      <p:graphicFrame>
        <p:nvGraphicFramePr>
          <p:cNvPr id="9" name=""/>
          <p:cNvGraphicFramePr/>
          <p:nvPr/>
        </p:nvGraphicFramePr>
        <p:xfrm>
          <a:off xmlns:a="http://schemas.openxmlformats.org/drawingml/2006/main" x="619125" y="2047875"/>
          <a:ext xmlns:a="http://schemas.openxmlformats.org/drawingml/2006/main" cx="10953750" cy="3143250"/>
        </p:xfrm>
        <a:graphic xmlns:a="http://schemas.openxmlformats.org/drawingml/2006/main">
          <a:graphicData uri="http://schemas.openxmlformats.org/drawingml/2006/table">
            <a:tbl>
              <a:tblPr/>
              <a:tblGrid>
                <a:gridCol w="5905500"/>
                <a:gridCol w="5048250"/>
              </a:tblGrid>
              <a:tr h="523875">
                <a:tc>
                  <a:txBody>
                    <a:bodyPr/>
                    <a:lstStyle/>
                    <a:p>
                      <a:r>
                        <a:rPr sz="1800" b="1">
                          <a:solidFill>
                            <a:srgbClr val="83E3B6"/>
                          </a:solidFill>
                          <a:latin typeface="Arial"/>
                          <a:ea typeface="Arial"/>
                          <a:cs typeface="Arial"/>
                        </a:rPr>
                        <a:t>Measurement</a:t>
                      </a:r>
                    </a:p>
                  </a:txBody>
                  <a:tcPr marL="91440" marR="91440" marT="45720" marB="45720">
                    <a:solidFill>
                      <a:srgbClr val="193328"/>
                    </a:solidFill>
                  </a:tcPr>
                </a:tc>
                <a:tc>
                  <a:txBody>
                    <a:bodyPr/>
                    <a:lstStyle/>
                    <a:p>
                      <a:r>
                        <a:rPr sz="1800" b="1">
                          <a:solidFill>
                            <a:srgbClr val="83E3B6"/>
                          </a:solidFill>
                          <a:latin typeface="Arial"/>
                          <a:ea typeface="Arial"/>
                          <a:cs typeface="Arial"/>
                        </a:rPr>
                        <a:t>Result</a:t>
                      </a:r>
                    </a:p>
                  </a:txBody>
                  <a:tcPr marL="91440" marR="91440" marT="45720" marB="45720">
                    <a:solidFill>
                      <a:srgbClr val="193328"/>
                    </a:solidFill>
                  </a:tcPr>
                </a:tc>
              </a:tr>
              <a:tr h="523875">
                <a:tc>
                  <a:txBody>
                    <a:bodyPr/>
                    <a:lstStyle/>
                    <a:p>
                      <a:r>
                        <a:rPr sz="1800" b="0">
                          <a:solidFill>
                            <a:srgbClr val="F3F5EF"/>
                          </a:solidFill>
                          <a:latin typeface="Arial"/>
                          <a:ea typeface="Arial"/>
                          <a:cs typeface="Arial"/>
                        </a:rPr>
                        <a:t>Policy runtime</a:t>
                      </a:r>
                    </a:p>
                  </a:txBody>
                  <a:tcPr marL="91440" marR="91440" marT="45720" marB="45720">
                    <a:solidFill>
                      <a:srgbClr val="0B1622"/>
                    </a:solidFill>
                  </a:tcPr>
                </a:tc>
                <a:tc>
                  <a:txBody>
                    <a:bodyPr/>
                    <a:lstStyle/>
                    <a:p>
                      <a:r>
                        <a:rPr sz="1800" b="0">
                          <a:solidFill>
                            <a:srgbClr val="F3F5EF"/>
                          </a:solidFill>
                          <a:latin typeface="Arial"/>
                          <a:ea typeface="Arial"/>
                          <a:cs typeface="Arial"/>
                        </a:rPr>
                        <a:t>OpenVINO CPU, FP32, Apple M4 Pro</a:t>
                      </a:r>
                    </a:p>
                  </a:txBody>
                  <a:tcPr marL="91440" marR="91440" marT="45720" marB="45720">
                    <a:solidFill>
                      <a:srgbClr val="0B1622"/>
                    </a:solidFill>
                  </a:tcPr>
                </a:tc>
              </a:tr>
              <a:tr h="523875">
                <a:tc>
                  <a:txBody>
                    <a:bodyPr/>
                    <a:lstStyle/>
                    <a:p>
                      <a:r>
                        <a:rPr sz="1800" b="0">
                          <a:solidFill>
                            <a:srgbClr val="F3F5EF"/>
                          </a:solidFill>
                          <a:latin typeface="Arial"/>
                          <a:ea typeface="Arial"/>
                          <a:cs typeface="Arial"/>
                        </a:rPr>
                        <a:t>Policy latency, median / p95</a:t>
                      </a:r>
                    </a:p>
                  </a:txBody>
                  <a:tcPr marL="91440" marR="91440" marT="45720" marB="45720">
                    <a:solidFill>
                      <a:srgbClr val="0B1622"/>
                    </a:solidFill>
                  </a:tcPr>
                </a:tc>
                <a:tc>
                  <a:txBody>
                    <a:bodyPr/>
                    <a:lstStyle/>
                    <a:p>
                      <a:r>
                        <a:rPr sz="1800" b="0">
                          <a:solidFill>
                            <a:srgbClr val="F3F5EF"/>
                          </a:solidFill>
                          <a:latin typeface="Arial"/>
                          <a:ea typeface="Arial"/>
                          <a:cs typeface="Arial"/>
                        </a:rPr>
                        <a:t>0.03704 ms / 0.04384 ms</a:t>
                      </a:r>
                    </a:p>
                  </a:txBody>
                  <a:tcPr marL="91440" marR="91440" marT="45720" marB="45720">
                    <a:solidFill>
                      <a:srgbClr val="0B1622"/>
                    </a:solidFill>
                  </a:tcPr>
                </a:tc>
              </a:tr>
              <a:tr h="523875">
                <a:tc>
                  <a:txBody>
                    <a:bodyPr/>
                    <a:lstStyle/>
                    <a:p>
                      <a:r>
                        <a:rPr sz="1800" b="0">
                          <a:solidFill>
                            <a:srgbClr val="F3F5EF"/>
                          </a:solidFill>
                          <a:latin typeface="Arial"/>
                          <a:ea typeface="Arial"/>
                          <a:cs typeface="Arial"/>
                        </a:rPr>
                        <a:t>Mean correction iterations</a:t>
                      </a:r>
                    </a:p>
                  </a:txBody>
                  <a:tcPr marL="91440" marR="91440" marT="45720" marB="45720">
                    <a:solidFill>
                      <a:srgbClr val="0B1622"/>
                    </a:solidFill>
                  </a:tcPr>
                </a:tc>
                <a:tc>
                  <a:txBody>
                    <a:bodyPr/>
                    <a:lstStyle/>
                    <a:p>
                      <a:r>
                        <a:rPr sz="1800" b="0">
                          <a:solidFill>
                            <a:srgbClr val="F3F5EF"/>
                          </a:solidFill>
                          <a:latin typeface="Arial"/>
                          <a:ea typeface="Arial"/>
                          <a:cs typeface="Arial"/>
                        </a:rPr>
                        <a:t>4,528.1 baseline / 4,288.2 learned</a:t>
                      </a:r>
                    </a:p>
                  </a:txBody>
                  <a:tcPr marL="91440" marR="91440" marT="45720" marB="45720">
                    <a:solidFill>
                      <a:srgbClr val="0B1622"/>
                    </a:solidFill>
                  </a:tcPr>
                </a:tc>
              </a:tr>
              <a:tr h="523875">
                <a:tc>
                  <a:txBody>
                    <a:bodyPr/>
                    <a:lstStyle/>
                    <a:p>
                      <a:r>
                        <a:rPr sz="1800" b="0">
                          <a:solidFill>
                            <a:srgbClr val="F3F5EF"/>
                          </a:solidFill>
                          <a:latin typeface="Arial"/>
                          <a:ea typeface="Arial"/>
                          <a:cs typeface="Arial"/>
                        </a:rPr>
                        <a:t>Mean local compute time</a:t>
                      </a:r>
                    </a:p>
                  </a:txBody>
                  <a:tcPr marL="91440" marR="91440" marT="45720" marB="45720">
                    <a:solidFill>
                      <a:srgbClr val="0B1622"/>
                    </a:solidFill>
                  </a:tcPr>
                </a:tc>
                <a:tc>
                  <a:txBody>
                    <a:bodyPr/>
                    <a:lstStyle/>
                    <a:p>
                      <a:r>
                        <a:rPr sz="1800" b="0">
                          <a:solidFill>
                            <a:srgbClr val="F3F5EF"/>
                          </a:solidFill>
                          <a:latin typeface="Arial"/>
                          <a:ea typeface="Arial"/>
                          <a:cs typeface="Arial"/>
                        </a:rPr>
                        <a:t>271.05 ms baseline / 255.76 ms learned</a:t>
                      </a:r>
                    </a:p>
                  </a:txBody>
                  <a:tcPr marL="91440" marR="91440" marT="45720" marB="45720">
                    <a:solidFill>
                      <a:srgbClr val="0B1622"/>
                    </a:solidFill>
                  </a:tcPr>
                </a:tc>
              </a:tr>
              <a:tr h="523875">
                <a:tc>
                  <a:txBody>
                    <a:bodyPr/>
                    <a:lstStyle/>
                    <a:p>
                      <a:r>
                        <a:rPr sz="1800" b="0">
                          <a:solidFill>
                            <a:srgbClr val="F3F5EF"/>
                          </a:solidFill>
                          <a:latin typeface="Arial"/>
                          <a:ea typeface="Arial"/>
                          <a:cs typeface="Arial"/>
                        </a:rPr>
                        <a:t>Recovery completion</a:t>
                      </a:r>
                    </a:p>
                  </a:txBody>
                  <a:tcPr marL="91440" marR="91440" marT="45720" marB="45720">
                    <a:solidFill>
                      <a:srgbClr val="0B1622"/>
                    </a:solidFill>
                  </a:tcPr>
                </a:tc>
                <a:tc>
                  <a:txBody>
                    <a:bodyPr/>
                    <a:lstStyle/>
                    <a:p>
                      <a:r>
                        <a:rPr sz="1800" b="0">
                          <a:solidFill>
                            <a:srgbClr val="F3F5EF"/>
                          </a:solidFill>
                          <a:latin typeface="Arial"/>
                          <a:ea typeface="Arial"/>
                          <a:cs typeface="Arial"/>
                        </a:rPr>
                        <a:t>10/10 baseline and 10/10 learned</a:t>
                      </a:r>
                    </a:p>
                  </a:txBody>
                  <a:tcPr marL="91440" marR="91440" marT="45720" marB="45720">
                    <a:solidFill>
                      <a:srgbClr val="0B1622"/>
                    </a:solidFill>
                  </a:tcPr>
                </a:tc>
              </a:tr>
            </a:tbl>
          </a:graphicData>
        </a:graphic>
      </p:graphicFrame>
      <p:sp>
        <p:nvSpPr>
          <p:cNvPr id="5" name="">
            <a:extLst xmlns:a="http://schemas.openxmlformats.org/drawingml/2006/main">
              <a:ext uri="{FF2B5EF4-FFF2-40B4-BE49-F238E27FC236}">
                <a16:creationId xmlns:a16="http://schemas.microsoft.com/office/drawing/2014/main" id="{DA11B9B5-472A-4D9D-B6D4-487EA5F49D1B}"/>
              </a:ext>
            </a:extLst>
          </p:cNvPr>
          <p:cNvSpPr>
            <a:spLocks xmlns:a="http://schemas.openxmlformats.org/drawingml/2006/main" noGrp="1"/>
          </p:cNvSpPr>
          <p:nvPr/>
        </p:nvSpPr>
        <p:spPr>
          <a:xfrm xmlns:a="http://schemas.openxmlformats.org/drawingml/2006/main">
            <a:off x="619125"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3E3B6"/>
                </a:solidFill>
                <a:latin typeface="Arial"/>
                <a:ea typeface="Arial"/>
                <a:cs typeface="Arial"/>
              </a:defRPr>
            </a:pPr>
            <a:r>
              <a:rPr sz="2025" b="1">
                <a:solidFill>
                  <a:srgbClr val="83E3B6"/>
                </a:solidFill>
                <a:latin typeface="Arial"/>
                <a:ea typeface="Arial"/>
                <a:cs typeface="Arial"/>
              </a:rPr>
              <a:t>No Intel Core Ultra, GPU, NPU, or quantization performance claim.</a:t>
            </a:r>
          </a:p>
        </p:txBody>
      </p:sp>
    </p:spTree>
    <p:extLst>
      <p:ext uri="{BB962C8B-B14F-4D97-AF65-F5344CB8AC3E}">
        <p14:creationId xmlns:p14="http://schemas.microsoft.com/office/powerpoint/2010/main" val="430962293"/>
      </p:ext>
    </p:extLst>
  </p:cSld>
</p:sld>
</file>

<file path=ppt/slides/slide9.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74F49A-CB76-404D-9207-879FB113C44F}"/>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RUBRIC AND REPRODUCIBILITY</a:t>
            </a:r>
          </a:p>
        </p:txBody>
      </p:sp>
      <p:sp>
        <p:nvSpPr>
          <p:cNvPr id="2" name="">
            <a:extLst xmlns:a="http://schemas.openxmlformats.org/drawingml/2006/main">
              <a:ext uri="{FF2B5EF4-FFF2-40B4-BE49-F238E27FC236}">
                <a16:creationId xmlns:a16="http://schemas.microsoft.com/office/drawing/2014/main" id="{406AFCE0-FE85-458A-86C0-68085FB0F496}"/>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Evidence maps to the brief, with visible gaps</a:t>
            </a:r>
          </a:p>
        </p:txBody>
      </p:sp>
      <p:sp>
        <p:nvSpPr>
          <p:cNvPr id="3" name="">
            <a:extLst xmlns:a="http://schemas.openxmlformats.org/drawingml/2006/main">
              <a:ext uri="{FF2B5EF4-FFF2-40B4-BE49-F238E27FC236}">
                <a16:creationId xmlns:a16="http://schemas.microsoft.com/office/drawing/2014/main" id="{569D4CBA-B853-4488-9943-82FC457A30E3}"/>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09 / GRANTED ROBOTICS</a:t>
            </a:r>
          </a:p>
        </p:txBody>
      </p:sp>
      <p:graphicFrame>
        <p:nvGraphicFramePr>
          <p:cNvPr id="9" name=""/>
          <p:cNvGraphicFramePr/>
          <p:nvPr/>
        </p:nvGraphicFramePr>
        <p:xfrm>
          <a:off xmlns:a="http://schemas.openxmlformats.org/drawingml/2006/main" x="619125" y="2047875"/>
          <a:ext xmlns:a="http://schemas.openxmlformats.org/drawingml/2006/main" cx="10953750" cy="3524250"/>
        </p:xfrm>
        <a:graphic xmlns:a="http://schemas.openxmlformats.org/drawingml/2006/main">
          <a:graphicData uri="http://schemas.openxmlformats.org/drawingml/2006/table">
            <a:tbl>
              <a:tblPr/>
              <a:tblGrid>
                <a:gridCol w="4238625"/>
                <a:gridCol w="1047750"/>
                <a:gridCol w="5667375"/>
              </a:tblGrid>
              <a:tr h="503464">
                <a:tc>
                  <a:txBody>
                    <a:bodyPr/>
                    <a:lstStyle/>
                    <a:p>
                      <a:r>
                        <a:rPr sz="1650" b="1">
                          <a:solidFill>
                            <a:srgbClr val="83E3B6"/>
                          </a:solidFill>
                          <a:latin typeface="Arial"/>
                          <a:ea typeface="Arial"/>
                          <a:cs typeface="Arial"/>
                        </a:rPr>
                        <a:t>Track criterion</a:t>
                      </a:r>
                    </a:p>
                  </a:txBody>
                  <a:tcPr marL="91440" marR="91440" marT="45720" marB="45720">
                    <a:solidFill>
                      <a:srgbClr val="193328"/>
                    </a:solidFill>
                  </a:tcPr>
                </a:tc>
                <a:tc>
                  <a:txBody>
                    <a:bodyPr/>
                    <a:lstStyle/>
                    <a:p>
                      <a:r>
                        <a:rPr sz="1650" b="1">
                          <a:solidFill>
                            <a:srgbClr val="83E3B6"/>
                          </a:solidFill>
                          <a:latin typeface="Arial"/>
                          <a:ea typeface="Arial"/>
                          <a:cs typeface="Arial"/>
                        </a:rPr>
                        <a:t>Points</a:t>
                      </a:r>
                    </a:p>
                  </a:txBody>
                  <a:tcPr marL="91440" marR="91440" marT="45720" marB="45720">
                    <a:solidFill>
                      <a:srgbClr val="193328"/>
                    </a:solidFill>
                  </a:tcPr>
                </a:tc>
                <a:tc>
                  <a:txBody>
                    <a:bodyPr/>
                    <a:lstStyle/>
                    <a:p>
                      <a:r>
                        <a:rPr sz="1650" b="1">
                          <a:solidFill>
                            <a:srgbClr val="83E3B6"/>
                          </a:solidFill>
                          <a:latin typeface="Arial"/>
                          <a:ea typeface="Arial"/>
                          <a:cs typeface="Arial"/>
                        </a:rPr>
                        <a:t>Current evidence and limit</a:t>
                      </a:r>
                    </a:p>
                  </a:txBody>
                  <a:tcPr marL="91440" marR="91440" marT="45720" marB="45720">
                    <a:solidFill>
                      <a:srgbClr val="193328"/>
                    </a:solidFill>
                  </a:tcPr>
                </a:tc>
              </a:tr>
              <a:tr h="503464">
                <a:tc>
                  <a:txBody>
                    <a:bodyPr/>
                    <a:lstStyle/>
                    <a:p>
                      <a:r>
                        <a:rPr sz="1650" b="0">
                          <a:solidFill>
                            <a:srgbClr val="F3F5EF"/>
                          </a:solidFill>
                          <a:latin typeface="Arial"/>
                          <a:ea typeface="Arial"/>
                          <a:cs typeface="Arial"/>
                        </a:rPr>
                        <a:t>Task and bimanual manipulation</a:t>
                      </a:r>
                    </a:p>
                  </a:txBody>
                  <a:tcPr marL="91440" marR="91440" marT="45720" marB="45720">
                    <a:solidFill>
                      <a:srgbClr val="0B1622"/>
                    </a:solidFill>
                  </a:tcPr>
                </a:tc>
                <a:tc>
                  <a:txBody>
                    <a:bodyPr/>
                    <a:lstStyle/>
                    <a:p>
                      <a:r>
                        <a:rPr sz="1650" b="0">
                          <a:solidFill>
                            <a:srgbClr val="F3F5EF"/>
                          </a:solidFill>
                          <a:latin typeface="Arial"/>
                          <a:ea typeface="Arial"/>
                          <a:cs typeface="Arial"/>
                        </a:rPr>
                        <a:t>30</a:t>
                      </a:r>
                    </a:p>
                  </a:txBody>
                  <a:tcPr marL="91440" marR="91440" marT="45720" marB="45720">
                    <a:solidFill>
                      <a:srgbClr val="0B1622"/>
                    </a:solidFill>
                  </a:tcPr>
                </a:tc>
                <a:tc>
                  <a:txBody>
                    <a:bodyPr/>
                    <a:lstStyle/>
                    <a:p>
                      <a:r>
                        <a:rPr sz="1650" b="0">
                          <a:solidFill>
                            <a:srgbClr val="F3F5EF"/>
                          </a:solidFill>
                          <a:latin typeface="Arial"/>
                          <a:ea typeface="Arial"/>
                          <a:cs typeface="Arial"/>
                        </a:rPr>
                        <a:t>Cup/bowl placement, limited task vocabulary</a:t>
                      </a:r>
                    </a:p>
                  </a:txBody>
                  <a:tcPr marL="91440" marR="91440" marT="45720" marB="45720">
                    <a:solidFill>
                      <a:srgbClr val="0B1622"/>
                    </a:solidFill>
                  </a:tcPr>
                </a:tc>
              </a:tr>
              <a:tr h="503464">
                <a:tc>
                  <a:txBody>
                    <a:bodyPr/>
                    <a:lstStyle/>
                    <a:p>
                      <a:r>
                        <a:rPr sz="1650" b="0">
                          <a:solidFill>
                            <a:srgbClr val="F3F5EF"/>
                          </a:solidFill>
                          <a:latin typeface="Arial"/>
                          <a:ea typeface="Arial"/>
                          <a:cs typeface="Arial"/>
                        </a:rPr>
                        <a:t>VLA and multimodal reasoning</a:t>
                      </a:r>
                    </a:p>
                  </a:txBody>
                  <a:tcPr marL="91440" marR="91440" marT="45720" marB="45720">
                    <a:solidFill>
                      <a:srgbClr val="0B1622"/>
                    </a:solidFill>
                  </a:tcPr>
                </a:tc>
                <a:tc>
                  <a:txBody>
                    <a:bodyPr/>
                    <a:lstStyle/>
                    <a:p>
                      <a:r>
                        <a:rPr sz="1650" b="0">
                          <a:solidFill>
                            <a:srgbClr val="F3F5EF"/>
                          </a:solidFill>
                          <a:latin typeface="Arial"/>
                          <a:ea typeface="Arial"/>
                          <a:cs typeface="Arial"/>
                        </a:rPr>
                        <a:t>20</a:t>
                      </a:r>
                    </a:p>
                  </a:txBody>
                  <a:tcPr marL="91440" marR="91440" marT="45720" marB="45720">
                    <a:solidFill>
                      <a:srgbClr val="0B1622"/>
                    </a:solidFill>
                  </a:tcPr>
                </a:tc>
                <a:tc>
                  <a:txBody>
                    <a:bodyPr/>
                    <a:lstStyle/>
                    <a:p>
                      <a:r>
                        <a:rPr sz="1650" b="0">
                          <a:solidFill>
                            <a:srgbClr val="F3F5EF"/>
                          </a:solidFill>
                          <a:latin typeface="Arial"/>
                          <a:ea typeface="Arial"/>
                          <a:cs typeface="Arial"/>
                        </a:rPr>
                        <a:t>Camera validator + learned joint proposals, no VLA</a:t>
                      </a:r>
                    </a:p>
                  </a:txBody>
                  <a:tcPr marL="91440" marR="91440" marT="45720" marB="45720">
                    <a:solidFill>
                      <a:srgbClr val="0B1622"/>
                    </a:solidFill>
                  </a:tcPr>
                </a:tc>
              </a:tr>
              <a:tr h="503464">
                <a:tc>
                  <a:txBody>
                    <a:bodyPr/>
                    <a:lstStyle/>
                    <a:p>
                      <a:r>
                        <a:rPr sz="1650" b="0">
                          <a:solidFill>
                            <a:srgbClr val="F3F5EF"/>
                          </a:solidFill>
                          <a:latin typeface="Arial"/>
                          <a:ea typeface="Arial"/>
                          <a:cs typeface="Arial"/>
                        </a:rPr>
                        <a:t>Robustness and generalization</a:t>
                      </a:r>
                    </a:p>
                  </a:txBody>
                  <a:tcPr marL="91440" marR="91440" marT="45720" marB="45720">
                    <a:solidFill>
                      <a:srgbClr val="0B1622"/>
                    </a:solidFill>
                  </a:tcPr>
                </a:tc>
                <a:tc>
                  <a:txBody>
                    <a:bodyPr/>
                    <a:lstStyle/>
                    <a:p>
                      <a:r>
                        <a:rPr sz="1650" b="0">
                          <a:solidFill>
                            <a:srgbClr val="F3F5EF"/>
                          </a:solidFill>
                          <a:latin typeface="Arial"/>
                          <a:ea typeface="Arial"/>
                          <a:cs typeface="Arial"/>
                        </a:rPr>
                        <a:t>15</a:t>
                      </a:r>
                    </a:p>
                  </a:txBody>
                  <a:tcPr marL="91440" marR="91440" marT="45720" marB="45720">
                    <a:solidFill>
                      <a:srgbClr val="0B1622"/>
                    </a:solidFill>
                  </a:tcPr>
                </a:tc>
                <a:tc>
                  <a:txBody>
                    <a:bodyPr/>
                    <a:lstStyle/>
                    <a:p>
                      <a:r>
                        <a:rPr sz="1650" b="0">
                          <a:solidFill>
                            <a:srgbClr val="F3F5EF"/>
                          </a:solidFill>
                          <a:latin typeface="Arial"/>
                          <a:ea typeface="Arial"/>
                          <a:cs typeface="Arial"/>
                        </a:rPr>
                        <a:t>10 seeds, physics + size + light + color variations</a:t>
                      </a:r>
                    </a:p>
                  </a:txBody>
                  <a:tcPr marL="91440" marR="91440" marT="45720" marB="45720">
                    <a:solidFill>
                      <a:srgbClr val="0B1622"/>
                    </a:solidFill>
                  </a:tcPr>
                </a:tc>
              </a:tr>
              <a:tr h="503464">
                <a:tc>
                  <a:txBody>
                    <a:bodyPr/>
                    <a:lstStyle/>
                    <a:p>
                      <a:r>
                        <a:rPr sz="1650" b="0">
                          <a:solidFill>
                            <a:srgbClr val="F3F5EF"/>
                          </a:solidFill>
                          <a:latin typeface="Arial"/>
                          <a:ea typeface="Arial"/>
                          <a:cs typeface="Arial"/>
                        </a:rPr>
                        <a:t>OpenVINO and Intel optimization</a:t>
                      </a:r>
                    </a:p>
                  </a:txBody>
                  <a:tcPr marL="91440" marR="91440" marT="45720" marB="45720">
                    <a:solidFill>
                      <a:srgbClr val="0B1622"/>
                    </a:solidFill>
                  </a:tcPr>
                </a:tc>
                <a:tc>
                  <a:txBody>
                    <a:bodyPr/>
                    <a:lstStyle/>
                    <a:p>
                      <a:r>
                        <a:rPr sz="1650" b="0">
                          <a:solidFill>
                            <a:srgbClr val="F3F5EF"/>
                          </a:solidFill>
                          <a:latin typeface="Arial"/>
                          <a:ea typeface="Arial"/>
                          <a:cs typeface="Arial"/>
                        </a:rPr>
                        <a:t>20</a:t>
                      </a:r>
                    </a:p>
                  </a:txBody>
                  <a:tcPr marL="91440" marR="91440" marT="45720" marB="45720">
                    <a:solidFill>
                      <a:srgbClr val="0B1622"/>
                    </a:solidFill>
                  </a:tcPr>
                </a:tc>
                <a:tc>
                  <a:txBody>
                    <a:bodyPr/>
                    <a:lstStyle/>
                    <a:p>
                      <a:r>
                        <a:rPr sz="1650" b="0">
                          <a:solidFill>
                            <a:srgbClr val="F3F5EF"/>
                          </a:solidFill>
                          <a:latin typeface="Arial"/>
                          <a:ea typeface="Arial"/>
                          <a:cs typeface="Arial"/>
                        </a:rPr>
                        <a:t>Policy + graph IR, Intel execution missing</a:t>
                      </a:r>
                    </a:p>
                  </a:txBody>
                  <a:tcPr marL="91440" marR="91440" marT="45720" marB="45720">
                    <a:solidFill>
                      <a:srgbClr val="0B1622"/>
                    </a:solidFill>
                  </a:tcPr>
                </a:tc>
              </a:tr>
              <a:tr h="503464">
                <a:tc>
                  <a:txBody>
                    <a:bodyPr/>
                    <a:lstStyle/>
                    <a:p>
                      <a:r>
                        <a:rPr sz="1650" b="0">
                          <a:solidFill>
                            <a:srgbClr val="F3F5EF"/>
                          </a:solidFill>
                          <a:latin typeface="Arial"/>
                          <a:ea typeface="Arial"/>
                          <a:cs typeface="Arial"/>
                        </a:rPr>
                        <a:t>Quality and reproducibility</a:t>
                      </a:r>
                    </a:p>
                  </a:txBody>
                  <a:tcPr marL="91440" marR="91440" marT="45720" marB="45720">
                    <a:solidFill>
                      <a:srgbClr val="0B1622"/>
                    </a:solidFill>
                  </a:tcPr>
                </a:tc>
                <a:tc>
                  <a:txBody>
                    <a:bodyPr/>
                    <a:lstStyle/>
                    <a:p>
                      <a:r>
                        <a:rPr sz="1650" b="0">
                          <a:solidFill>
                            <a:srgbClr val="F3F5EF"/>
                          </a:solidFill>
                          <a:latin typeface="Arial"/>
                          <a:ea typeface="Arial"/>
                          <a:cs typeface="Arial"/>
                        </a:rPr>
                        <a:t>10</a:t>
                      </a:r>
                    </a:p>
                  </a:txBody>
                  <a:tcPr marL="91440" marR="91440" marT="45720" marB="45720">
                    <a:solidFill>
                      <a:srgbClr val="0B1622"/>
                    </a:solidFill>
                  </a:tcPr>
                </a:tc>
                <a:tc>
                  <a:txBody>
                    <a:bodyPr/>
                    <a:lstStyle/>
                    <a:p>
                      <a:r>
                        <a:rPr sz="1650" b="0">
                          <a:solidFill>
                            <a:srgbClr val="F3F5EF"/>
                          </a:solidFill>
                          <a:latin typeface="Arial"/>
                          <a:ea typeface="Arial"/>
                          <a:cs typeface="Arial"/>
                        </a:rPr>
                        <a:t>Setup, tests, seeded evaluation, raw artifacts</a:t>
                      </a:r>
                    </a:p>
                  </a:txBody>
                  <a:tcPr marL="91440" marR="91440" marT="45720" marB="45720">
                    <a:solidFill>
                      <a:srgbClr val="0B1622"/>
                    </a:solidFill>
                  </a:tcPr>
                </a:tc>
              </a:tr>
              <a:tr h="503464">
                <a:tc>
                  <a:txBody>
                    <a:bodyPr/>
                    <a:lstStyle/>
                    <a:p>
                      <a:r>
                        <a:rPr sz="1650" b="0">
                          <a:solidFill>
                            <a:srgbClr val="F3F5EF"/>
                          </a:solidFill>
                          <a:latin typeface="Arial"/>
                          <a:ea typeface="Arial"/>
                          <a:cs typeface="Arial"/>
                        </a:rPr>
                        <a:t>Innovation and demonstration</a:t>
                      </a:r>
                    </a:p>
                  </a:txBody>
                  <a:tcPr marL="91440" marR="91440" marT="45720" marB="45720">
                    <a:solidFill>
                      <a:srgbClr val="0B1622"/>
                    </a:solidFill>
                  </a:tcPr>
                </a:tc>
                <a:tc>
                  <a:txBody>
                    <a:bodyPr/>
                    <a:lstStyle/>
                    <a:p>
                      <a:r>
                        <a:rPr sz="1650" b="0">
                          <a:solidFill>
                            <a:srgbClr val="F3F5EF"/>
                          </a:solidFill>
                          <a:latin typeface="Arial"/>
                          <a:ea typeface="Arial"/>
                          <a:cs typeface="Arial"/>
                        </a:rPr>
                        <a:t>5</a:t>
                      </a:r>
                    </a:p>
                  </a:txBody>
                  <a:tcPr marL="91440" marR="91440" marT="45720" marB="45720">
                    <a:solidFill>
                      <a:srgbClr val="0B1622"/>
                    </a:solidFill>
                  </a:tcPr>
                </a:tc>
                <a:tc>
                  <a:txBody>
                    <a:bodyPr/>
                    <a:lstStyle/>
                    <a:p>
                      <a:r>
                        <a:rPr sz="1650" b="0">
                          <a:solidFill>
                            <a:srgbClr val="F3F5EF"/>
                          </a:solidFill>
                          <a:latin typeface="Arial"/>
                          <a:ea typeface="Arial"/>
                          <a:cs typeface="Arial"/>
                        </a:rPr>
                        <a:t>Visible recovery and an explicit ablation</a:t>
                      </a:r>
                    </a:p>
                  </a:txBody>
                  <a:tcPr marL="91440" marR="91440" marT="45720" marB="45720">
                    <a:solidFill>
                      <a:srgbClr val="0B1622"/>
                    </a:solidFill>
                  </a:tcPr>
                </a:tc>
              </a:tr>
            </a:tbl>
          </a:graphicData>
        </a:graphic>
      </p:graphicFrame>
      <p:sp>
        <p:nvSpPr>
          <p:cNvPr id="5" name="">
            <a:extLst xmlns:a="http://schemas.openxmlformats.org/drawingml/2006/main">
              <a:ext uri="{FF2B5EF4-FFF2-40B4-BE49-F238E27FC236}">
                <a16:creationId xmlns:a16="http://schemas.microsoft.com/office/drawing/2014/main" id="{8EAE9486-00CF-417D-B867-0C9EDE1E515D}"/>
              </a:ext>
            </a:extLst>
          </p:cNvPr>
          <p:cNvSpPr>
            <a:spLocks xmlns:a="http://schemas.openxmlformats.org/drawingml/2006/main" noGrp="1"/>
          </p:cNvSpPr>
          <p:nvPr/>
        </p:nvSpPr>
        <p:spPr>
          <a:xfrm xmlns:a="http://schemas.openxmlformats.org/drawingml/2006/main">
            <a:off x="619125" y="597217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BC9D2"/>
                </a:solidFill>
                <a:latin typeface="Arial"/>
                <a:ea typeface="Arial"/>
                <a:cs typeface="Arial"/>
              </a:defRPr>
            </a:pPr>
            <a:r>
              <a:rPr sz="1425" b="0">
                <a:solidFill>
                  <a:srgbClr val="BBC9D2"/>
                </a:solidFill>
                <a:latin typeface="Arial"/>
                <a:ea typeface="Arial"/>
                <a:cs typeface="Arial"/>
              </a:rPr>
              <a:t>29 backend tests passed: task rejection, provider failures, safety checks, policy-reference parity.</a:t>
            </a:r>
          </a:p>
        </p:txBody>
      </p:sp>
    </p:spTree>
    <p:extLst>
      <p:ext uri="{BB962C8B-B14F-4D97-AF65-F5344CB8AC3E}">
        <p14:creationId xmlns:p14="http://schemas.microsoft.com/office/powerpoint/2010/main" val="1791385809"/>
      </p:ext>
    </p:extLst>
  </p:cSld>
</p:sld>
</file>

<file path=ppt/slides/slide10.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B9195B-6D31-4F1D-9CFA-817EBFE281E3}"/>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COMMERCIAL VALIDATION PLAN</a:t>
            </a:r>
          </a:p>
        </p:txBody>
      </p:sp>
      <p:sp>
        <p:nvSpPr>
          <p:cNvPr id="2" name="">
            <a:extLst xmlns:a="http://schemas.openxmlformats.org/drawingml/2006/main">
              <a:ext uri="{FF2B5EF4-FFF2-40B4-BE49-F238E27FC236}">
                <a16:creationId xmlns:a16="http://schemas.microsoft.com/office/drawing/2014/main" id="{29E37108-507A-4E6A-A9F6-4AAB45055C4F}"/>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One integrator. One recurring failure. A measured pilot.</a:t>
            </a:r>
          </a:p>
        </p:txBody>
      </p:sp>
      <p:sp>
        <p:nvSpPr>
          <p:cNvPr id="3" name="">
            <a:extLst xmlns:a="http://schemas.openxmlformats.org/drawingml/2006/main">
              <a:ext uri="{FF2B5EF4-FFF2-40B4-BE49-F238E27FC236}">
                <a16:creationId xmlns:a16="http://schemas.microsoft.com/office/drawing/2014/main" id="{5D5FC161-CC2C-4755-B955-3744A9DFAB9F}"/>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10 / GRANTED ROBOTICS</a:t>
            </a:r>
          </a:p>
        </p:txBody>
      </p:sp>
      <p:sp>
        <p:nvSpPr>
          <p:cNvPr id="4" name="">
            <a:extLst xmlns:a="http://schemas.openxmlformats.org/drawingml/2006/main">
              <a:ext uri="{FF2B5EF4-FFF2-40B4-BE49-F238E27FC236}">
                <a16:creationId xmlns:a16="http://schemas.microsoft.com/office/drawing/2014/main" id="{2886E9D7-B587-4C92-BF61-BB97D6048B08}"/>
              </a:ext>
            </a:extLst>
          </p:cNvPr>
          <p:cNvSpPr>
            <a:spLocks xmlns:a="http://schemas.openxmlformats.org/drawingml/2006/main" noGrp="1"/>
          </p:cNvSpPr>
          <p:nvPr/>
        </p:nvSpPr>
        <p:spPr>
          <a:xfrm xmlns:a="http://schemas.openxmlformats.org/drawingml/2006/main">
            <a:off x="619125" y="21431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3E3B6"/>
                </a:solidFill>
                <a:latin typeface="Arial"/>
                <a:ea typeface="Arial"/>
                <a:cs typeface="Arial"/>
              </a:defRPr>
            </a:pPr>
            <a:r>
              <a:rPr sz="2325" b="1">
                <a:solidFill>
                  <a:srgbClr val="83E3B6"/>
                </a:solidFill>
                <a:latin typeface="Arial"/>
                <a:ea typeface="Arial"/>
                <a:cs typeface="Arial"/>
              </a:rPr>
              <a:t>Pilot design</a:t>
            </a:r>
          </a:p>
        </p:txBody>
      </p:sp>
      <p:sp>
        <p:nvSpPr>
          <p:cNvPr id="5" name="">
            <a:extLst xmlns:a="http://schemas.openxmlformats.org/drawingml/2006/main">
              <a:ext uri="{FF2B5EF4-FFF2-40B4-BE49-F238E27FC236}">
                <a16:creationId xmlns:a16="http://schemas.microsoft.com/office/drawing/2014/main" id="{38D7AC9B-082C-4F44-AE9F-C33A2E05D2F9}"/>
              </a:ext>
            </a:extLst>
          </p:cNvPr>
          <p:cNvSpPr>
            <a:spLocks xmlns:a="http://schemas.openxmlformats.org/drawingml/2006/main" noGrp="1"/>
          </p:cNvSpPr>
          <p:nvPr/>
        </p:nvSpPr>
        <p:spPr>
          <a:xfrm xmlns:a="http://schemas.openxmlformats.org/drawingml/2006/main">
            <a:off x="619125" y="2714625"/>
            <a:ext cx="51911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Interview 5 integrators.</a:t>
            </a:r>
          </a:p>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Import one existing task.</a:t>
            </a:r>
          </a:p>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Reproduce their recurring faults.</a:t>
            </a:r>
          </a:p>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Measure time to diagnose a regression.</a:t>
            </a:r>
          </a:p>
        </p:txBody>
      </p:sp>
      <p:sp>
        <p:nvSpPr>
          <p:cNvPr id="6" name="">
            <a:extLst xmlns:a="http://schemas.openxmlformats.org/drawingml/2006/main">
              <a:ext uri="{FF2B5EF4-FFF2-40B4-BE49-F238E27FC236}">
                <a16:creationId xmlns:a16="http://schemas.microsoft.com/office/drawing/2014/main" id="{5969CB46-EA69-4D4F-8896-CC45F5D160C6}"/>
              </a:ext>
            </a:extLst>
          </p:cNvPr>
          <p:cNvSpPr>
            <a:spLocks xmlns:a="http://schemas.openxmlformats.org/drawingml/2006/main" noGrp="1"/>
          </p:cNvSpPr>
          <p:nvPr/>
        </p:nvSpPr>
        <p:spPr>
          <a:xfrm xmlns:a="http://schemas.openxmlformats.org/drawingml/2006/main">
            <a:off x="6477000" y="21431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3E3B6"/>
                </a:solidFill>
                <a:latin typeface="Arial"/>
                <a:ea typeface="Arial"/>
                <a:cs typeface="Arial"/>
              </a:defRPr>
            </a:pPr>
            <a:r>
              <a:rPr sz="2325" b="1">
                <a:solidFill>
                  <a:srgbClr val="83E3B6"/>
                </a:solidFill>
                <a:latin typeface="Arial"/>
                <a:ea typeface="Arial"/>
                <a:cs typeface="Arial"/>
              </a:rPr>
              <a:t>Pricing hypothesis</a:t>
            </a:r>
          </a:p>
        </p:txBody>
      </p:sp>
      <p:sp>
        <p:nvSpPr>
          <p:cNvPr id="7" name="">
            <a:extLst xmlns:a="http://schemas.openxmlformats.org/drawingml/2006/main">
              <a:ext uri="{FF2B5EF4-FFF2-40B4-BE49-F238E27FC236}">
                <a16:creationId xmlns:a16="http://schemas.microsoft.com/office/drawing/2014/main" id="{4A206819-2D9E-41FE-914B-5859A23C064D}"/>
              </a:ext>
            </a:extLst>
          </p:cNvPr>
          <p:cNvSpPr>
            <a:spLocks xmlns:a="http://schemas.openxmlformats.org/drawingml/2006/main" noGrp="1"/>
          </p:cNvSpPr>
          <p:nvPr/>
        </p:nvSpPr>
        <p:spPr>
          <a:xfrm xmlns:a="http://schemas.openxmlformats.org/drawingml/2006/main">
            <a:off x="6477000" y="2714625"/>
            <a:ext cx="4857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$500 / month per team</a:t>
            </a:r>
          </a:p>
          <a:p xmlns:a="http://schemas.openxmlformats.org/drawingml/2006/main">
            <a:r>
              <a:t/>
            </a:r>
          </a:p>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$75 / engineer hour assumed</a:t>
            </a:r>
          </a:p>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7 hours saved would cover the fee</a:t>
            </a:r>
          </a:p>
        </p:txBody>
      </p:sp>
      <p:sp>
        <p:nvSpPr>
          <p:cNvPr id="8" name="">
            <a:extLst xmlns:a="http://schemas.openxmlformats.org/drawingml/2006/main">
              <a:ext uri="{FF2B5EF4-FFF2-40B4-BE49-F238E27FC236}">
                <a16:creationId xmlns:a16="http://schemas.microsoft.com/office/drawing/2014/main" id="{A8A4883B-BA5C-46E7-BAFD-55CD1F5C81F6}"/>
              </a:ext>
            </a:extLst>
          </p:cNvPr>
          <p:cNvSpPr>
            <a:spLocks xmlns:a="http://schemas.openxmlformats.org/drawingml/2006/main" noGrp="1"/>
          </p:cNvSpPr>
          <p:nvPr/>
        </p:nvSpPr>
        <p:spPr>
          <a:xfrm xmlns:a="http://schemas.openxmlformats.org/drawingml/2006/main">
            <a:off x="619125" y="54578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3F5EF"/>
                </a:solidFill>
                <a:latin typeface="Arial"/>
                <a:ea typeface="Arial"/>
                <a:cs typeface="Arial"/>
              </a:defRPr>
            </a:pPr>
            <a:r>
              <a:rPr sz="1725" b="0">
                <a:solidFill>
                  <a:srgbClr val="F3F5EF"/>
                </a:solidFill>
                <a:latin typeface="Arial"/>
                <a:ea typeface="Arial"/>
                <a:cs typeface="Arial"/>
              </a:rPr>
              <a:t>No validated demand or revenue. Local execution limits compute costs. Hosted jobs need quotas.</a:t>
            </a:r>
          </a:p>
        </p:txBody>
      </p:sp>
    </p:spTree>
    <p:extLst>
      <p:ext uri="{BB962C8B-B14F-4D97-AF65-F5344CB8AC3E}">
        <p14:creationId xmlns:p14="http://schemas.microsoft.com/office/powerpoint/2010/main" val="826087044"/>
      </p:ext>
    </p:extLst>
  </p:cSld>
</p:sld>
</file>

<file path=ppt/slides/slide11.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67DC38-C78E-44B2-BDEA-171018DC1F5A}"/>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LIMITATIONS AND NEXT MILESTONES</a:t>
            </a:r>
          </a:p>
        </p:txBody>
      </p:sp>
      <p:sp>
        <p:nvSpPr>
          <p:cNvPr id="2" name="">
            <a:extLst xmlns:a="http://schemas.openxmlformats.org/drawingml/2006/main">
              <a:ext uri="{FF2B5EF4-FFF2-40B4-BE49-F238E27FC236}">
                <a16:creationId xmlns:a16="http://schemas.microsoft.com/office/drawing/2014/main" id="{440777A3-0BAF-408D-AAC7-32B8D083223D}"/>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The next release needs stronger evidence</a:t>
            </a:r>
          </a:p>
        </p:txBody>
      </p:sp>
      <p:sp>
        <p:nvSpPr>
          <p:cNvPr id="3" name="">
            <a:extLst xmlns:a="http://schemas.openxmlformats.org/drawingml/2006/main">
              <a:ext uri="{FF2B5EF4-FFF2-40B4-BE49-F238E27FC236}">
                <a16:creationId xmlns:a16="http://schemas.microsoft.com/office/drawing/2014/main" id="{347A39D5-1848-4ED0-974F-9782739A980C}"/>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11 / GRANTED ROBOTICS</a:t>
            </a:r>
          </a:p>
        </p:txBody>
      </p:sp>
      <p:graphicFrame>
        <p:nvGraphicFramePr>
          <p:cNvPr id="9" name=""/>
          <p:cNvGraphicFramePr/>
          <p:nvPr/>
        </p:nvGraphicFramePr>
        <p:xfrm>
          <a:off xmlns:a="http://schemas.openxmlformats.org/drawingml/2006/main" x="619125" y="2047875"/>
          <a:ext xmlns:a="http://schemas.openxmlformats.org/drawingml/2006/main" cx="10953750" cy="3333750"/>
        </p:xfrm>
        <a:graphic xmlns:a="http://schemas.openxmlformats.org/drawingml/2006/main">
          <a:graphicData uri="http://schemas.openxmlformats.org/drawingml/2006/table">
            <a:tbl>
              <a:tblPr/>
              <a:tblGrid>
                <a:gridCol w="4476750"/>
                <a:gridCol w="6477000"/>
              </a:tblGrid>
              <a:tr h="555625">
                <a:tc>
                  <a:txBody>
                    <a:bodyPr/>
                    <a:lstStyle/>
                    <a:p>
                      <a:r>
                        <a:rPr sz="1725" b="1">
                          <a:solidFill>
                            <a:srgbClr val="83E3B6"/>
                          </a:solidFill>
                          <a:latin typeface="Arial"/>
                          <a:ea typeface="Arial"/>
                          <a:cs typeface="Arial"/>
                        </a:rPr>
                        <a:t>Current boundary</a:t>
                      </a:r>
                    </a:p>
                  </a:txBody>
                  <a:tcPr marL="91440" marR="91440" marT="45720" marB="45720">
                    <a:solidFill>
                      <a:srgbClr val="193328"/>
                    </a:solidFill>
                  </a:tcPr>
                </a:tc>
                <a:tc>
                  <a:txBody>
                    <a:bodyPr/>
                    <a:lstStyle/>
                    <a:p>
                      <a:r>
                        <a:rPr sz="1725" b="1">
                          <a:solidFill>
                            <a:srgbClr val="83E3B6"/>
                          </a:solidFill>
                          <a:latin typeface="Arial"/>
                          <a:ea typeface="Arial"/>
                          <a:cs typeface="Arial"/>
                        </a:rPr>
                        <a:t>Next verifiable milestone</a:t>
                      </a:r>
                    </a:p>
                  </a:txBody>
                  <a:tcPr marL="91440" marR="91440" marT="45720" marB="45720">
                    <a:solidFill>
                      <a:srgbClr val="193328"/>
                    </a:solidFill>
                  </a:tcPr>
                </a:tc>
              </a:tr>
              <a:tr h="555625">
                <a:tc>
                  <a:txBody>
                    <a:bodyPr/>
                    <a:lstStyle/>
                    <a:p>
                      <a:r>
                        <a:rPr sz="1725" b="0">
                          <a:solidFill>
                            <a:srgbClr val="F3F5EF"/>
                          </a:solidFill>
                          <a:latin typeface="Arial"/>
                          <a:ea typeface="Arial"/>
                          <a:cs typeface="Arial"/>
                        </a:rPr>
                        <a:t>Fixed two-object task</a:t>
                      </a:r>
                    </a:p>
                  </a:txBody>
                  <a:tcPr marL="91440" marR="91440" marT="45720" marB="45720">
                    <a:solidFill>
                      <a:srgbClr val="0B1622"/>
                    </a:solidFill>
                  </a:tcPr>
                </a:tc>
                <a:tc>
                  <a:txBody>
                    <a:bodyPr/>
                    <a:lstStyle/>
                    <a:p>
                      <a:r>
                        <a:rPr sz="1725" b="0">
                          <a:solidFill>
                            <a:srgbClr val="F3F5EF"/>
                          </a:solidFill>
                          <a:latin typeface="Arial"/>
                          <a:ea typeface="Arial"/>
                          <a:cs typeface="Arial"/>
                        </a:rPr>
                        <a:t>Complementary manipulation with measurable success</a:t>
                      </a:r>
                    </a:p>
                  </a:txBody>
                  <a:tcPr marL="91440" marR="91440" marT="45720" marB="45720">
                    <a:solidFill>
                      <a:srgbClr val="0B1622"/>
                    </a:solidFill>
                  </a:tcPr>
                </a:tc>
              </a:tr>
              <a:tr h="555625">
                <a:tc>
                  <a:txBody>
                    <a:bodyPr/>
                    <a:lstStyle/>
                    <a:p>
                      <a:r>
                        <a:rPr sz="1725" b="0">
                          <a:solidFill>
                            <a:srgbClr val="F3F5EF"/>
                          </a:solidFill>
                          <a:latin typeface="Arial"/>
                          <a:ea typeface="Arial"/>
                          <a:cs typeface="Arial"/>
                        </a:rPr>
                        <a:t>State-based imitation with correction</a:t>
                      </a:r>
                    </a:p>
                  </a:txBody>
                  <a:tcPr marL="91440" marR="91440" marT="45720" marB="45720">
                    <a:solidFill>
                      <a:srgbClr val="0B1622"/>
                    </a:solidFill>
                  </a:tcPr>
                </a:tc>
                <a:tc>
                  <a:txBody>
                    <a:bodyPr/>
                    <a:lstStyle/>
                    <a:p>
                      <a:r>
                        <a:rPr sz="1725" b="0">
                          <a:solidFill>
                            <a:srgbClr val="F3F5EF"/>
                          </a:solidFill>
                          <a:latin typeface="Arial"/>
                          <a:ea typeface="Arial"/>
                          <a:cs typeface="Arial"/>
                        </a:rPr>
                        <a:t>Vision-language-action policy and held-out tasks</a:t>
                      </a:r>
                    </a:p>
                  </a:txBody>
                  <a:tcPr marL="91440" marR="91440" marT="45720" marB="45720">
                    <a:solidFill>
                      <a:srgbClr val="0B1622"/>
                    </a:solidFill>
                  </a:tcPr>
                </a:tc>
              </a:tr>
              <a:tr h="555625">
                <a:tc>
                  <a:txBody>
                    <a:bodyPr/>
                    <a:lstStyle/>
                    <a:p>
                      <a:r>
                        <a:rPr sz="1725" b="0">
                          <a:solidFill>
                            <a:srgbClr val="F3F5EF"/>
                          </a:solidFill>
                          <a:latin typeface="Arial"/>
                          <a:ea typeface="Arial"/>
                          <a:cs typeface="Arial"/>
                        </a:rPr>
                        <a:t>Bounded proxy-object randomization</a:t>
                      </a:r>
                    </a:p>
                  </a:txBody>
                  <a:tcPr marL="91440" marR="91440" marT="45720" marB="45720">
                    <a:solidFill>
                      <a:srgbClr val="0B1622"/>
                    </a:solidFill>
                  </a:tcPr>
                </a:tc>
                <a:tc>
                  <a:txBody>
                    <a:bodyPr/>
                    <a:lstStyle/>
                    <a:p>
                      <a:r>
                        <a:rPr sz="1725" b="0">
                          <a:solidFill>
                            <a:srgbClr val="F3F5EF"/>
                          </a:solidFill>
                          <a:latin typeface="Arial"/>
                          <a:ea typeface="Arial"/>
                          <a:cs typeface="Arial"/>
                        </a:rPr>
                        <a:t>Novel objects, larger pose shifts, and held-out tasks</a:t>
                      </a:r>
                    </a:p>
                  </a:txBody>
                  <a:tcPr marL="91440" marR="91440" marT="45720" marB="45720">
                    <a:solidFill>
                      <a:srgbClr val="0B1622"/>
                    </a:solidFill>
                  </a:tcPr>
                </a:tc>
              </a:tr>
              <a:tr h="555625">
                <a:tc>
                  <a:txBody>
                    <a:bodyPr/>
                    <a:lstStyle/>
                    <a:p>
                      <a:r>
                        <a:rPr sz="1725" b="0">
                          <a:solidFill>
                            <a:srgbClr val="F3F5EF"/>
                          </a:solidFill>
                          <a:latin typeface="Arial"/>
                          <a:ea typeface="Arial"/>
                          <a:cs typeface="Arial"/>
                        </a:rPr>
                        <a:t>Apple development measurements</a:t>
                      </a:r>
                    </a:p>
                  </a:txBody>
                  <a:tcPr marL="91440" marR="91440" marT="45720" marB="45720">
                    <a:solidFill>
                      <a:srgbClr val="0B1622"/>
                    </a:solidFill>
                  </a:tcPr>
                </a:tc>
                <a:tc>
                  <a:txBody>
                    <a:bodyPr/>
                    <a:lstStyle/>
                    <a:p>
                      <a:r>
                        <a:rPr sz="1725" b="0">
                          <a:solidFill>
                            <a:srgbClr val="F3F5EF"/>
                          </a:solidFill>
                          <a:latin typeface="Arial"/>
                          <a:ea typeface="Arial"/>
                          <a:cs typeface="Arial"/>
                        </a:rPr>
                        <a:t>Intel Core Ultra end-to-end run and device benchmark</a:t>
                      </a:r>
                    </a:p>
                  </a:txBody>
                  <a:tcPr marL="91440" marR="91440" marT="45720" marB="45720">
                    <a:solidFill>
                      <a:srgbClr val="0B1622"/>
                    </a:solidFill>
                  </a:tcPr>
                </a:tc>
              </a:tr>
              <a:tr h="555625">
                <a:tc>
                  <a:txBody>
                    <a:bodyPr/>
                    <a:lstStyle/>
                    <a:p>
                      <a:r>
                        <a:rPr sz="1725" b="0">
                          <a:solidFill>
                            <a:srgbClr val="F3F5EF"/>
                          </a:solidFill>
                          <a:latin typeface="Arial"/>
                          <a:ea typeface="Arial"/>
                          <a:cs typeface="Arial"/>
                        </a:rPr>
                        <a:t>Demo infrastructure</a:t>
                      </a:r>
                    </a:p>
                  </a:txBody>
                  <a:tcPr marL="91440" marR="91440" marT="45720" marB="45720">
                    <a:solidFill>
                      <a:srgbClr val="0B1622"/>
                    </a:solidFill>
                  </a:tcPr>
                </a:tc>
                <a:tc>
                  <a:txBody>
                    <a:bodyPr/>
                    <a:lstStyle/>
                    <a:p>
                      <a:r>
                        <a:rPr sz="1725" b="0">
                          <a:solidFill>
                            <a:srgbClr val="F3F5EF"/>
                          </a:solidFill>
                          <a:latin typeface="Arial"/>
                          <a:ea typeface="Arial"/>
                          <a:cs typeface="Arial"/>
                        </a:rPr>
                        <a:t>Durable storage, tenant isolation, quotas, monitoring</a:t>
                      </a:r>
                    </a:p>
                  </a:txBody>
                  <a:tcPr marL="91440" marR="91440" marT="45720" marB="45720">
                    <a:solidFill>
                      <a:srgbClr val="0B1622"/>
                    </a:solidFill>
                  </a:tcPr>
                </a:tc>
              </a:tr>
            </a:tbl>
          </a:graphicData>
        </a:graphic>
      </p:graphicFrame>
      <p:sp>
        <p:nvSpPr>
          <p:cNvPr id="5" name="">
            <a:extLst xmlns:a="http://schemas.openxmlformats.org/drawingml/2006/main">
              <a:ext uri="{FF2B5EF4-FFF2-40B4-BE49-F238E27FC236}">
                <a16:creationId xmlns:a16="http://schemas.microsoft.com/office/drawing/2014/main" id="{79F2170B-3751-442A-A4F8-3670A6C3D966}"/>
              </a:ext>
            </a:extLst>
          </p:cNvPr>
          <p:cNvSpPr>
            <a:spLocks xmlns:a="http://schemas.openxmlformats.org/drawingml/2006/main" noGrp="1"/>
          </p:cNvSpPr>
          <p:nvPr/>
        </p:nvSpPr>
        <p:spPr>
          <a:xfrm xmlns:a="http://schemas.openxmlformats.org/drawingml/2006/main">
            <a:off x="619125" y="58007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3E3B6"/>
                </a:solidFill>
                <a:latin typeface="Arial"/>
                <a:ea typeface="Arial"/>
                <a:cs typeface="Arial"/>
              </a:defRPr>
            </a:pPr>
            <a:r>
              <a:rPr sz="1800" b="0">
                <a:solidFill>
                  <a:srgbClr val="83E3B6"/>
                </a:solidFill>
                <a:latin typeface="Arial"/>
                <a:ea typeface="Arial"/>
                <a:cs typeface="Arial"/>
              </a:rPr>
              <a:t>Simulation evidence supports this fixture. It does not certify a physical robot.</a:t>
            </a:r>
          </a:p>
        </p:txBody>
      </p:sp>
    </p:spTree>
    <p:extLst>
      <p:ext uri="{BB962C8B-B14F-4D97-AF65-F5344CB8AC3E}">
        <p14:creationId xmlns:p14="http://schemas.microsoft.com/office/powerpoint/2010/main" val="1964998748"/>
      </p:ext>
    </p:extLst>
  </p:cSld>
</p:sld>
</file>

<file path=ppt/slides/slide12.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C4447C-9627-4288-BBE2-14A7EDF3925C}"/>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GRANTED ROBOTICS</a:t>
            </a:r>
          </a:p>
        </p:txBody>
      </p:sp>
      <p:sp>
        <p:nvSpPr>
          <p:cNvPr id="2" name="">
            <a:extLst xmlns:a="http://schemas.openxmlformats.org/drawingml/2006/main">
              <a:ext uri="{FF2B5EF4-FFF2-40B4-BE49-F238E27FC236}">
                <a16:creationId xmlns:a16="http://schemas.microsoft.com/office/drawing/2014/main" id="{5345BED5-F3C2-43A9-A22E-B1DC9667A702}"/>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Before the next action,</a:t>
            </a:r>
          </a:p>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show the evidence</a:t>
            </a:r>
          </a:p>
        </p:txBody>
      </p:sp>
      <p:sp>
        <p:nvSpPr>
          <p:cNvPr id="3" name="">
            <a:extLst xmlns:a="http://schemas.openxmlformats.org/drawingml/2006/main">
              <a:ext uri="{FF2B5EF4-FFF2-40B4-BE49-F238E27FC236}">
                <a16:creationId xmlns:a16="http://schemas.microsoft.com/office/drawing/2014/main" id="{1C190C89-0AA1-4E41-AC1E-F4C16D62ADE5}"/>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12 / GRANTED ROBOTICS</a:t>
            </a:r>
          </a:p>
        </p:txBody>
      </p:sp>
      <p:sp>
        <p:nvSpPr>
          <p:cNvPr id="4" name="">
            <a:extLst xmlns:a="http://schemas.openxmlformats.org/drawingml/2006/main">
              <a:ext uri="{FF2B5EF4-FFF2-40B4-BE49-F238E27FC236}">
                <a16:creationId xmlns:a16="http://schemas.microsoft.com/office/drawing/2014/main" id="{3E1CC675-2BC3-4586-85B1-D260B7198F69}"/>
              </a:ext>
            </a:extLst>
          </p:cNvPr>
          <p:cNvSpPr>
            <a:spLocks xmlns:a="http://schemas.openxmlformats.org/drawingml/2006/main" noGrp="1"/>
          </p:cNvSpPr>
          <p:nvPr/>
        </p:nvSpPr>
        <p:spPr>
          <a:xfrm xmlns:a="http://schemas.openxmlformats.org/drawingml/2006/main">
            <a:off x="619125" y="33337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83E3B6"/>
                </a:solidFill>
                <a:latin typeface="Arial"/>
                <a:ea typeface="Arial"/>
                <a:cs typeface="Arial"/>
              </a:defRPr>
            </a:pPr>
            <a:r>
              <a:rPr sz="3000" b="1">
                <a:solidFill>
                  <a:srgbClr val="83E3B6"/>
                </a:solidFill>
                <a:latin typeface="Arial"/>
                <a:ea typeface="Arial"/>
                <a:cs typeface="Arial"/>
              </a:rPr>
              <a:t>granted-robotics.web.app</a:t>
            </a:r>
          </a:p>
        </p:txBody>
      </p:sp>
      <p:sp>
        <p:nvSpPr>
          <p:cNvPr id="5" name="">
            <a:extLst xmlns:a="http://schemas.openxmlformats.org/drawingml/2006/main">
              <a:ext uri="{FF2B5EF4-FFF2-40B4-BE49-F238E27FC236}">
                <a16:creationId xmlns:a16="http://schemas.microsoft.com/office/drawing/2014/main" id="{8DD03A80-60B4-4842-A591-0E3D3E4AB467}"/>
              </a:ext>
            </a:extLst>
          </p:cNvPr>
          <p:cNvSpPr>
            <a:spLocks xmlns:a="http://schemas.openxmlformats.org/drawingml/2006/main" noGrp="1"/>
          </p:cNvSpPr>
          <p:nvPr/>
        </p:nvSpPr>
        <p:spPr>
          <a:xfrm xmlns:a="http://schemas.openxmlformats.org/drawingml/2006/main">
            <a:off x="619125" y="43338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BC9D2"/>
                </a:solidFill>
                <a:latin typeface="Arial"/>
                <a:ea typeface="Arial"/>
                <a:cs typeface="Arial"/>
              </a:defRPr>
            </a:pPr>
            <a:r>
              <a:rPr sz="1950" b="0">
                <a:solidFill>
                  <a:srgbClr val="BBC9D2"/>
                </a:solidFill>
                <a:latin typeface="Arial"/>
                <a:ea typeface="Arial"/>
                <a:cs typeface="Arial"/>
              </a:rPr>
              <a:t>github.com/shi1720/AI-Infra-Summit-Hackathon</a:t>
            </a:r>
          </a:p>
        </p:txBody>
      </p:sp>
      <p:sp>
        <p:nvSpPr>
          <p:cNvPr id="6" name="">
            <a:extLst xmlns:a="http://schemas.openxmlformats.org/drawingml/2006/main">
              <a:ext uri="{FF2B5EF4-FFF2-40B4-BE49-F238E27FC236}">
                <a16:creationId xmlns:a16="http://schemas.microsoft.com/office/drawing/2014/main" id="{52F99692-0997-4B80-BD6B-6F6D935F6E48}"/>
              </a:ext>
            </a:extLst>
          </p:cNvPr>
          <p:cNvSpPr>
            <a:spLocks xmlns:a="http://schemas.openxmlformats.org/drawingml/2006/main" noGrp="1"/>
          </p:cNvSpPr>
          <p:nvPr/>
        </p:nvSpPr>
        <p:spPr>
          <a:xfrm xmlns:a="http://schemas.openxmlformats.org/drawingml/2006/main">
            <a:off x="619125" y="52863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3F5EF"/>
                </a:solidFill>
                <a:latin typeface="Arial"/>
                <a:ea typeface="Arial"/>
                <a:cs typeface="Arial"/>
              </a:defRPr>
            </a:pPr>
            <a:r>
              <a:rPr sz="1725" b="0">
                <a:solidFill>
                  <a:srgbClr val="F3F5EF"/>
                </a:solidFill>
                <a:latin typeface="Arial"/>
                <a:ea typeface="Arial"/>
                <a:cs typeface="Arial"/>
              </a:rPr>
              <a:t>Created by Shivam Gupta</a:t>
            </a:r>
          </a:p>
          <a:p xmlns:a="http://schemas.openxmlformats.org/drawingml/2006/main">
            <a:pPr>
              <a:defRPr sz="1725" b="0">
                <a:solidFill>
                  <a:srgbClr val="F3F5EF"/>
                </a:solidFill>
                <a:latin typeface="Arial"/>
                <a:ea typeface="Arial"/>
                <a:cs typeface="Arial"/>
              </a:defRPr>
            </a:pPr>
            <a:r>
              <a:rPr sz="1725" b="0">
                <a:solidFill>
                  <a:srgbClr val="F3F5EF"/>
                </a:solidFill>
                <a:latin typeface="Arial"/>
                <a:ea typeface="Arial"/>
                <a:cs typeface="Arial"/>
              </a:rPr>
              <a:t>MIT licensed project</a:t>
            </a:r>
          </a:p>
        </p:txBody>
      </p:sp>
    </p:spTree>
    <p:extLst>
      <p:ext uri="{BB962C8B-B14F-4D97-AF65-F5344CB8AC3E}">
        <p14:creationId xmlns:p14="http://schemas.microsoft.com/office/powerpoint/2010/main" val="10604185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2026-09-16T18:07:23.7290000Z</dcterms:created>
  <dcterms:modified xsi:type="dcterms:W3CDTF">2026-09-16T18:07:23.7290000Z</dcterms:modified>
</coreProperties>
</file>