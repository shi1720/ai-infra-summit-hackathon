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17f40d194e49a0" /><Relationship Type="http://schemas.openxmlformats.org/officeDocument/2006/relationships/extended-properties" Target="/docProps/app.xml" Id="R100d5da257474d79" /><Relationship Type="http://schemas.openxmlformats.org/officeDocument/2006/relationships/officeDocument" Target="/ppt/presentation.xml" Id="R5ceffdb7e2bd42f8" /></Relationships>
</file>

<file path=ppt/presentation.xml><?xml version="1.0" encoding="utf-8"?>
<p:presentation xmlns:p="http://schemas.openxmlformats.org/presentationml/2006/main">
  <p:sldMasterIdLst>
    <p:sldMasterId xmlns:r="http://schemas.openxmlformats.org/officeDocument/2006/relationships" id="2147483648" r:id="Rc6a5f9c0fd674ab3"/>
  </p:sldMasterIdLst>
  <p:notesMasterIdLst>
    <p:notesMasterId xmlns:r="http://schemas.openxmlformats.org/officeDocument/2006/relationships" r:id="R0636aee2d0a74530"/>
  </p:notesMasterIdLst>
  <p:sldIdLst>
    <p:sldId xmlns:r="http://schemas.openxmlformats.org/officeDocument/2006/relationships" id="256" r:id="R6cd94a6967cd4dc7"/>
    <p:sldId xmlns:r="http://schemas.openxmlformats.org/officeDocument/2006/relationships" id="257" r:id="Rf64127ec21504935"/>
    <p:sldId xmlns:r="http://schemas.openxmlformats.org/officeDocument/2006/relationships" id="258" r:id="R5cd4ed11e40e4b38"/>
    <p:sldId xmlns:r="http://schemas.openxmlformats.org/officeDocument/2006/relationships" id="259" r:id="Rd70f4e88dba44b3a"/>
    <p:sldId xmlns:r="http://schemas.openxmlformats.org/officeDocument/2006/relationships" id="260" r:id="R9b939711e13a4a63"/>
    <p:sldId xmlns:r="http://schemas.openxmlformats.org/officeDocument/2006/relationships" id="261" r:id="R15dd958039e14558"/>
    <p:sldId xmlns:r="http://schemas.openxmlformats.org/officeDocument/2006/relationships" id="262" r:id="R52d87fce4da449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62b8df8d734a04" /><Relationship Type="http://schemas.openxmlformats.org/officeDocument/2006/relationships/slideMaster" Target="/ppt/slideMasters/slideMaster1.xml" Id="Rc6a5f9c0fd674ab3" /><Relationship Type="http://schemas.openxmlformats.org/officeDocument/2006/relationships/notesMaster" Target="/ppt/notesMasters/notesMaster1.xml" Id="R0636aee2d0a74530" /><Relationship Type="http://schemas.openxmlformats.org/officeDocument/2006/relationships/presProps" Target="/ppt/presProps.xml" Id="R2b84d03094514889" /><Relationship Type="http://schemas.openxmlformats.org/officeDocument/2006/relationships/tableStyles" Target="/ppt/tableStyles.xml" Id="R40cfe75871a540b9" /><Relationship Type="http://schemas.openxmlformats.org/officeDocument/2006/relationships/slide" Target="/ppt/slides/slide1.xml" Id="R6cd94a6967cd4dc7" /><Relationship Type="http://schemas.openxmlformats.org/officeDocument/2006/relationships/slide" Target="/ppt/slides/slide2.xml" Id="Rf64127ec21504935" /><Relationship Type="http://schemas.openxmlformats.org/officeDocument/2006/relationships/slide" Target="/ppt/slides/slide3.xml" Id="R5cd4ed11e40e4b38" /><Relationship Type="http://schemas.openxmlformats.org/officeDocument/2006/relationships/slide" Target="/ppt/slides/slide4.xml" Id="Rd70f4e88dba44b3a" /><Relationship Type="http://schemas.openxmlformats.org/officeDocument/2006/relationships/slide" Target="/ppt/slides/slide5.xml" Id="R9b939711e13a4a63" /><Relationship Type="http://schemas.openxmlformats.org/officeDocument/2006/relationships/slide" Target="/ppt/slides/slide6.xml" Id="R15dd958039e14558" /><Relationship Type="http://schemas.openxmlformats.org/officeDocument/2006/relationships/slide" Target="/ppt/slides/slide7.xml" Id="R52d87fce4da449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d276ef6e9445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43e1066ca74a36" /><Relationship Type="http://schemas.openxmlformats.org/officeDocument/2006/relationships/notesMaster" Target="/ppt/notesMasters/notesMaster1.xml" Id="R416e385c634d42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976769414af4ecf" /><Relationship Type="http://schemas.openxmlformats.org/officeDocument/2006/relationships/notesMaster" Target="/ppt/notesMasters/notesMaster1.xml" Id="R2b7d924ff6204d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420bc97233416d" /><Relationship Type="http://schemas.openxmlformats.org/officeDocument/2006/relationships/notesMaster" Target="/ppt/notesMasters/notesMaster1.xml" Id="Rfada86e7e84a4c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d786a3a1b24c74" /><Relationship Type="http://schemas.openxmlformats.org/officeDocument/2006/relationships/notesMaster" Target="/ppt/notesMasters/notesMaster1.xml" Id="Rb3e115e059d849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d512104b304d52" /><Relationship Type="http://schemas.openxmlformats.org/officeDocument/2006/relationships/notesMaster" Target="/ppt/notesMasters/notesMaster1.xml" Id="R53dbc61a9cb34b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4ab0645540415f" /><Relationship Type="http://schemas.openxmlformats.org/officeDocument/2006/relationships/notesMaster" Target="/ppt/notesMasters/notesMaster1.xml" Id="Rd8ffc48bc01f46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a6b6b5df9e4805" /><Relationship Type="http://schemas.openxmlformats.org/officeDocument/2006/relationships/notesMaster" Target="/ppt/notesMasters/notesMaster1.xml" Id="R28477f7efa4940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robot setting a table looks impressive. But move a cup after the plan starts, and the real test begins. Can it notice the change, stop an unsafe action, and still finish the job? This is Granted Robotics, created by Shivam Gupta.</a:t>
            </a:r>
          </a:p>
          <a:p xmlns:a="http://schemas.openxmlformats.org/drawingml/2006/main">
            <a:r>
              <a:t>Implementation statements are based on the project source. Commercial statements are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robotics teams, the difficult work often starts after a demonstration fails. What changed? Which action caused the problem? Did the recovery actually complete the task? Granted makes that investigation visible through a familiar two arm table setting scenario.</a:t>
            </a:r>
          </a:p>
          <a:p xmlns:a="http://schemas.openxmlformats.org/drawingml/2006/main">
            <a:r>
              <a:t>Implementation statements are based on the project source. Commercial statements are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workbench puts the mission, workspace, and execution evidence together. A reviewer can explore the task, inspect a disturbance, and understand the recovery sequence. The goal is to make the important decisions readable, instead of asking a judge to trust a success animation.</a:t>
            </a:r>
          </a:p>
          <a:p xmlns:a="http://schemas.openxmlformats.org/drawingml/2006/main">
            <a:r>
              <a:t>Implementation statements are based on the project source. Commercial statements are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 the interface, a Python backend uses MuJoCo for articulated arms, tabletop objects, and simulated grasp constraints. An OpenVINO graph evaluates geometric safety signals. The browser is the presentation layer. Simulation evidence is separate from that visual explanation.</a:t>
            </a:r>
          </a:p>
          <a:p xmlns:a="http://schemas.openxmlformats.org/drawingml/2006/main">
            <a:r>
              <a:t>Implementation statements are based on the project source. Commercial statements are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ten randomized seeds, grip loss completed ten out of ten times with recovery, and zero out of ten without it. We varied object placement, mass, and friction. These are fifty local simulation runs, with deterministic control. We have not yet demonstrated on Intel Core Ultra hardware.</a:t>
            </a:r>
          </a:p>
          <a:p xmlns:a="http://schemas.openxmlformats.org/drawingml/2006/main">
            <a:r>
              <a:t>Implementation statements are based on the project source. Commercial statements are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customer hypothesis is robotics integrators. A paid pilot would import one task and reproduce its recurring failures. We would measure engineering time spent diagnosing regressions. A five hundred dollar monthly workspace is a pricing experiment, not a claim of customer demand or revenue.</a:t>
            </a:r>
          </a:p>
          <a:p xmlns:a="http://schemas.openxmlformats.org/drawingml/2006/main">
            <a:r>
              <a:t>Implementation statements are based on the project source. Commercial statements are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Granted Robotics makes the recovery part of the product. It gives teams a clear place to inspect what failed, how the system responded, and what the evidence supports. Explore the workbench and the open source implementation. Created by Shivam Gupta for the AI Infra Summit Hackathon.</a:t>
            </a:r>
          </a:p>
          <a:p xmlns:a="http://schemas.openxmlformats.org/drawingml/2006/main">
            <a:r>
              <a:t>Implementation statements are based on the project source. Commercial statements are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c6aed87d30437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656ded05a564d83" /><Relationship Type="http://schemas.openxmlformats.org/officeDocument/2006/relationships/slideLayout" Target="/ppt/slideLayouts/slideLayout1.xml" Id="Rc4c97e722d6749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c97e722d6749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590647e0f946bb" /><Relationship Type="http://schemas.openxmlformats.org/officeDocument/2006/relationships/notesSlide" Target="/ppt/notesSlides/notesSlide1.xml" Id="R47d336a0ce9049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13faaca56b4fc3" /><Relationship Type="http://schemas.openxmlformats.org/officeDocument/2006/relationships/notesSlide" Target="/ppt/notesSlides/notesSlide2.xml" Id="R805cca47973f40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02fe4c05cb446d" /><Relationship Type="http://schemas.openxmlformats.org/officeDocument/2006/relationships/image" Target="/ppt/media/image.jpeg" Id="Ra7369a8db1094e74" /><Relationship Type="http://schemas.openxmlformats.org/officeDocument/2006/relationships/notesSlide" Target="/ppt/notesSlides/notesSlide3.xml" Id="Ra616243d6c9942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6dc7484901487f" /><Relationship Type="http://schemas.openxmlformats.org/officeDocument/2006/relationships/image" Target="/ppt/media/image.png" Id="Rfbe2672785934f69" /><Relationship Type="http://schemas.openxmlformats.org/officeDocument/2006/relationships/notesSlide" Target="/ppt/notesSlides/notesSlide4.xml" Id="Ra25cc15216f241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46f727ba434028" /><Relationship Type="http://schemas.openxmlformats.org/officeDocument/2006/relationships/notesSlide" Target="/ppt/notesSlides/notesSlide5.xml" Id="R57c6e16b6b3447a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1f1148bc8f048da" /><Relationship Type="http://schemas.openxmlformats.org/officeDocument/2006/relationships/notesSlide" Target="/ppt/notesSlides/notesSlide6.xml" Id="Rba97a76a1a8c47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4607e5f8214e78" /><Relationship Type="http://schemas.openxmlformats.org/officeDocument/2006/relationships/notesSlide" Target="/ppt/notesSlides/notesSlide7.xml" Id="R75f55c9491b441d6" /></Relationships>
</file>

<file path=ppt/slides/slide1.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00825C-208A-4D42-9972-F126D385950F}"/>
              </a:ext>
            </a:extLst>
          </p:cNvPr>
          <p:cNvSpPr>
            <a:spLocks xmlns:a="http://schemas.openxmlformats.org/drawingml/2006/main" noGrp="1"/>
          </p:cNvSpPr>
          <p:nvPr/>
        </p:nvSpPr>
        <p:spPr>
          <a:xfrm xmlns:a="http://schemas.openxmlformats.org/drawingml/2006/main">
            <a:off x="723900" y="5905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83E3B6"/>
                </a:solidFill>
                <a:latin typeface="Arial"/>
                <a:ea typeface="Arial"/>
                <a:cs typeface="Arial"/>
              </a:defRPr>
            </a:pPr>
            <a:r>
              <a:rPr sz="1575" b="1">
                <a:solidFill>
                  <a:srgbClr val="83E3B6"/>
                </a:solidFill>
                <a:latin typeface="Arial"/>
                <a:ea typeface="Arial"/>
                <a:cs typeface="Arial"/>
              </a:rPr>
              <a:t>GRANTED ROBOTICS</a:t>
            </a:r>
          </a:p>
        </p:txBody>
      </p:sp>
      <p:sp>
        <p:nvSpPr>
          <p:cNvPr id="2" name="">
            <a:extLst xmlns:a="http://schemas.openxmlformats.org/drawingml/2006/main">
              <a:ext uri="{FF2B5EF4-FFF2-40B4-BE49-F238E27FC236}">
                <a16:creationId xmlns:a16="http://schemas.microsoft.com/office/drawing/2014/main" id="{EC19F672-B6D9-4FE5-B35F-76384AAC6614}"/>
              </a:ext>
            </a:extLst>
          </p:cNvPr>
          <p:cNvSpPr>
            <a:spLocks xmlns:a="http://schemas.openxmlformats.org/drawingml/2006/main" noGrp="1"/>
          </p:cNvSpPr>
          <p:nvPr/>
        </p:nvSpPr>
        <p:spPr>
          <a:xfrm xmlns:a="http://schemas.openxmlformats.org/drawingml/2006/main">
            <a:off x="685800" y="136207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3F5EF"/>
                </a:solidFill>
                <a:latin typeface="Arial"/>
                <a:ea typeface="Arial"/>
                <a:cs typeface="Arial"/>
              </a:defRPr>
            </a:pPr>
            <a:r>
              <a:rPr sz="4950" b="1">
                <a:solidFill>
                  <a:srgbClr val="F3F5EF"/>
                </a:solidFill>
                <a:latin typeface="Arial"/>
                <a:ea typeface="Arial"/>
                <a:cs typeface="Arial"/>
              </a:rPr>
              <a:t>When the plan breaks,</a:t>
            </a:r>
          </a:p>
          <a:p xmlns:a="http://schemas.openxmlformats.org/drawingml/2006/main">
            <a:pPr>
              <a:defRPr sz="4950" b="1">
                <a:solidFill>
                  <a:srgbClr val="F3F5EF"/>
                </a:solidFill>
                <a:latin typeface="Arial"/>
                <a:ea typeface="Arial"/>
                <a:cs typeface="Arial"/>
              </a:defRPr>
            </a:pPr>
            <a:r>
              <a:rPr sz="4950" b="1">
                <a:solidFill>
                  <a:srgbClr val="F3F5EF"/>
                </a:solidFill>
                <a:latin typeface="Arial"/>
                <a:ea typeface="Arial"/>
                <a:cs typeface="Arial"/>
              </a:rPr>
              <a:t>what happens next?</a:t>
            </a:r>
          </a:p>
        </p:txBody>
      </p:sp>
      <p:sp>
        <p:nvSpPr>
          <p:cNvPr id="3" name="">
            <a:extLst xmlns:a="http://schemas.openxmlformats.org/drawingml/2006/main">
              <a:ext uri="{FF2B5EF4-FFF2-40B4-BE49-F238E27FC236}">
                <a16:creationId xmlns:a16="http://schemas.microsoft.com/office/drawing/2014/main" id="{DA6BF345-1D4E-4FEC-AE98-59F27128AB35}"/>
              </a:ext>
            </a:extLst>
          </p:cNvPr>
          <p:cNvSpPr>
            <a:spLocks xmlns:a="http://schemas.openxmlformats.org/drawingml/2006/main" noGrp="1"/>
          </p:cNvSpPr>
          <p:nvPr/>
        </p:nvSpPr>
        <p:spPr>
          <a:xfrm xmlns:a="http://schemas.openxmlformats.org/drawingml/2006/main">
            <a:off x="742950" y="3552825"/>
            <a:ext cx="10287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A safety and recovery workbench</a:t>
            </a:r>
          </a:p>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for bimanual manipulation.</a:t>
            </a:r>
          </a:p>
        </p:txBody>
      </p:sp>
      <p:sp>
        <p:nvSpPr>
          <p:cNvPr id="4" name="">
            <a:extLst xmlns:a="http://schemas.openxmlformats.org/drawingml/2006/main">
              <a:ext uri="{FF2B5EF4-FFF2-40B4-BE49-F238E27FC236}">
                <a16:creationId xmlns:a16="http://schemas.microsoft.com/office/drawing/2014/main" id="{00FC3A82-6845-44A8-AC21-D35EDA84550A}"/>
              </a:ext>
            </a:extLst>
          </p:cNvPr>
          <p:cNvSpPr>
            <a:spLocks xmlns:a="http://schemas.openxmlformats.org/drawingml/2006/main" noGrp="1"/>
          </p:cNvSpPr>
          <p:nvPr/>
        </p:nvSpPr>
        <p:spPr>
          <a:xfrm xmlns:a="http://schemas.openxmlformats.org/drawingml/2006/main">
            <a:off x="742950" y="60864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83E3B6"/>
                </a:solidFill>
                <a:latin typeface="Arial"/>
                <a:ea typeface="Arial"/>
                <a:cs typeface="Arial"/>
              </a:defRPr>
            </a:pPr>
            <a:r>
              <a:rPr sz="1425" b="0">
                <a:solidFill>
                  <a:srgbClr val="83E3B6"/>
                </a:solidFill>
                <a:latin typeface="Arial"/>
                <a:ea typeface="Arial"/>
                <a:cs typeface="Arial"/>
              </a:rPr>
              <a:t>Shivam Gupta  /  AI Infra Summit Hackathon</a:t>
            </a:r>
          </a:p>
        </p:txBody>
      </p:sp>
    </p:spTree>
    <p:extLst>
      <p:ext uri="{BB962C8B-B14F-4D97-AF65-F5344CB8AC3E}">
        <p14:creationId xmlns:p14="http://schemas.microsoft.com/office/powerpoint/2010/main" val="922632513"/>
      </p:ext>
    </p:extLst>
  </p:cSld>
</p:sld>
</file>

<file path=ppt/slides/slide2.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E722CC-F00F-4777-A744-E47217FC225B}"/>
              </a:ext>
            </a:extLst>
          </p:cNvPr>
          <p:cNvSpPr>
            <a:spLocks xmlns:a="http://schemas.openxmlformats.org/drawingml/2006/main" noGrp="1"/>
          </p:cNvSpPr>
          <p:nvPr/>
        </p:nvSpPr>
        <p:spPr>
          <a:xfrm xmlns:a="http://schemas.openxmlformats.org/drawingml/2006/main">
            <a:off x="723900" y="5905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83E3B6"/>
                </a:solidFill>
                <a:latin typeface="Arial"/>
                <a:ea typeface="Arial"/>
                <a:cs typeface="Arial"/>
              </a:defRPr>
            </a:pPr>
            <a:r>
              <a:rPr sz="1575" b="1">
                <a:solidFill>
                  <a:srgbClr val="83E3B6"/>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B454D076-CC93-4171-8811-0AD156DA80CE}"/>
              </a:ext>
            </a:extLst>
          </p:cNvPr>
          <p:cNvSpPr>
            <a:spLocks xmlns:a="http://schemas.openxmlformats.org/drawingml/2006/main" noGrp="1"/>
          </p:cNvSpPr>
          <p:nvPr/>
        </p:nvSpPr>
        <p:spPr>
          <a:xfrm xmlns:a="http://schemas.openxmlformats.org/drawingml/2006/main">
            <a:off x="685800" y="136207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3F5EF"/>
                </a:solidFill>
                <a:latin typeface="Arial"/>
                <a:ea typeface="Arial"/>
                <a:cs typeface="Arial"/>
              </a:defRPr>
            </a:pPr>
            <a:r>
              <a:rPr sz="4650" b="1">
                <a:solidFill>
                  <a:srgbClr val="F3F5EF"/>
                </a:solidFill>
                <a:latin typeface="Arial"/>
                <a:ea typeface="Arial"/>
                <a:cs typeface="Arial"/>
              </a:rPr>
              <a:t>The failure is where</a:t>
            </a:r>
          </a:p>
          <a:p xmlns:a="http://schemas.openxmlformats.org/drawingml/2006/main">
            <a:pPr>
              <a:defRPr sz="4650" b="1">
                <a:solidFill>
                  <a:srgbClr val="F3F5EF"/>
                </a:solidFill>
                <a:latin typeface="Arial"/>
                <a:ea typeface="Arial"/>
                <a:cs typeface="Arial"/>
              </a:defRPr>
            </a:pPr>
            <a:r>
              <a:rPr sz="4650" b="1">
                <a:solidFill>
                  <a:srgbClr val="F3F5EF"/>
                </a:solidFill>
                <a:latin typeface="Arial"/>
                <a:ea typeface="Arial"/>
                <a:cs typeface="Arial"/>
              </a:rPr>
              <a:t>the work begins</a:t>
            </a:r>
          </a:p>
        </p:txBody>
      </p:sp>
      <p:sp>
        <p:nvSpPr>
          <p:cNvPr id="3" name="">
            <a:extLst xmlns:a="http://schemas.openxmlformats.org/drawingml/2006/main">
              <a:ext uri="{FF2B5EF4-FFF2-40B4-BE49-F238E27FC236}">
                <a16:creationId xmlns:a16="http://schemas.microsoft.com/office/drawing/2014/main" id="{1AD42591-1559-4AA8-940B-C4162A07C7B0}"/>
              </a:ext>
            </a:extLst>
          </p:cNvPr>
          <p:cNvSpPr>
            <a:spLocks xmlns:a="http://schemas.openxmlformats.org/drawingml/2006/main" noGrp="1"/>
          </p:cNvSpPr>
          <p:nvPr/>
        </p:nvSpPr>
        <p:spPr>
          <a:xfrm xmlns:a="http://schemas.openxmlformats.org/drawingml/2006/main">
            <a:off x="742950" y="3552825"/>
            <a:ext cx="10287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A displaced object. A slipped grasp.</a:t>
            </a:r>
          </a:p>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An obstacle in the workspace.</a:t>
            </a:r>
          </a:p>
          <a:p xmlns:a="http://schemas.openxmlformats.org/drawingml/2006/main">
            <a:r>
              <a:t/>
            </a:r>
          </a:p>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Engineers need a repeatable way to</a:t>
            </a:r>
          </a:p>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inspect the response.</a:t>
            </a:r>
          </a:p>
        </p:txBody>
      </p:sp>
      <p:sp>
        <p:nvSpPr>
          <p:cNvPr id="4" name="">
            <a:extLst xmlns:a="http://schemas.openxmlformats.org/drawingml/2006/main">
              <a:ext uri="{FF2B5EF4-FFF2-40B4-BE49-F238E27FC236}">
                <a16:creationId xmlns:a16="http://schemas.microsoft.com/office/drawing/2014/main" id="{46BD84F9-0CC6-4A88-9EC4-621CC4137DF4}"/>
              </a:ext>
            </a:extLst>
          </p:cNvPr>
          <p:cNvSpPr>
            <a:spLocks xmlns:a="http://schemas.openxmlformats.org/drawingml/2006/main" noGrp="1"/>
          </p:cNvSpPr>
          <p:nvPr/>
        </p:nvSpPr>
        <p:spPr>
          <a:xfrm xmlns:a="http://schemas.openxmlformats.org/drawingml/2006/main">
            <a:off x="742950" y="608647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591"/>
                </a:solidFill>
                <a:latin typeface="Arial"/>
                <a:ea typeface="Arial"/>
                <a:cs typeface="Arial"/>
              </a:defRPr>
            </a:pPr>
            <a:r>
              <a:rPr sz="1275" b="0">
                <a:solidFill>
                  <a:srgbClr val="718591"/>
                </a:solidFill>
                <a:latin typeface="Arial"/>
                <a:ea typeface="Arial"/>
                <a:cs typeface="Arial"/>
              </a:rPr>
              <a:t>02 / GRANTED ROBOTICS</a:t>
            </a:r>
          </a:p>
        </p:txBody>
      </p:sp>
    </p:spTree>
    <p:extLst>
      <p:ext uri="{BB962C8B-B14F-4D97-AF65-F5344CB8AC3E}">
        <p14:creationId xmlns:p14="http://schemas.microsoft.com/office/powerpoint/2010/main" val="148168723"/>
      </p:ext>
    </p:extLst>
  </p:cSld>
</p:sld>
</file>

<file path=ppt/slides/slide3.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01B54B-4C05-41DA-8253-04E0659D094C}"/>
              </a:ext>
            </a:extLst>
          </p:cNvPr>
          <p:cNvSpPr>
            <a:spLocks xmlns:a="http://schemas.openxmlformats.org/drawingml/2006/main" noGrp="1"/>
          </p:cNvSpPr>
          <p:nvPr/>
        </p:nvSpPr>
        <p:spPr>
          <a:xfrm xmlns:a="http://schemas.openxmlformats.org/drawingml/2006/main">
            <a:off x="723900" y="5905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83E3B6"/>
                </a:solidFill>
                <a:latin typeface="Arial"/>
                <a:ea typeface="Arial"/>
                <a:cs typeface="Arial"/>
              </a:defRPr>
            </a:pPr>
            <a:r>
              <a:rPr sz="1575" b="1">
                <a:solidFill>
                  <a:srgbClr val="83E3B6"/>
                </a:solidFill>
                <a:latin typeface="Arial"/>
                <a:ea typeface="Arial"/>
                <a:cs typeface="Arial"/>
              </a:rPr>
              <a:t>THE WORKBENCH</a:t>
            </a:r>
          </a:p>
        </p:txBody>
      </p:sp>
      <p:sp>
        <p:nvSpPr>
          <p:cNvPr id="2" name="">
            <a:extLst xmlns:a="http://schemas.openxmlformats.org/drawingml/2006/main">
              <a:ext uri="{FF2B5EF4-FFF2-40B4-BE49-F238E27FC236}">
                <a16:creationId xmlns:a16="http://schemas.microsoft.com/office/drawing/2014/main" id="{86B841A0-F3B8-469C-88B8-9C0948BA34AC}"/>
              </a:ext>
            </a:extLst>
          </p:cNvPr>
          <p:cNvSpPr>
            <a:spLocks xmlns:a="http://schemas.openxmlformats.org/drawingml/2006/main" noGrp="1"/>
          </p:cNvSpPr>
          <p:nvPr/>
        </p:nvSpPr>
        <p:spPr>
          <a:xfrm xmlns:a="http://schemas.openxmlformats.org/drawingml/2006/main">
            <a:off x="685800" y="10668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3F5EF"/>
                </a:solidFill>
                <a:latin typeface="Arial"/>
                <a:ea typeface="Arial"/>
                <a:cs typeface="Arial"/>
              </a:defRPr>
            </a:pPr>
            <a:r>
              <a:rPr sz="3150" b="1">
                <a:solidFill>
                  <a:srgbClr val="F3F5EF"/>
                </a:solidFill>
                <a:latin typeface="Arial"/>
                <a:ea typeface="Arial"/>
                <a:cs typeface="Arial"/>
              </a:rPr>
              <a:t>The recovery workbench</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7369a8db1094e74"/>
          <a:stretch xmlns:a="http://schemas.openxmlformats.org/drawingml/2006/main"/>
        </p:blipFill>
        <p:spPr>
          <a:xfrm xmlns:a="http://schemas.openxmlformats.org/drawingml/2006/main">
            <a:off x="2383735" y="1952625"/>
            <a:ext cx="7424530" cy="3952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7622BA0-EAD1-4763-9CF9-392056B0F669}"/>
              </a:ext>
            </a:extLst>
          </p:cNvPr>
          <p:cNvSpPr>
            <a:spLocks xmlns:a="http://schemas.openxmlformats.org/drawingml/2006/main" noGrp="1"/>
          </p:cNvSpPr>
          <p:nvPr/>
        </p:nvSpPr>
        <p:spPr>
          <a:xfrm xmlns:a="http://schemas.openxmlformats.org/drawingml/2006/main">
            <a:off x="742950" y="608647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591"/>
                </a:solidFill>
                <a:latin typeface="Arial"/>
                <a:ea typeface="Arial"/>
                <a:cs typeface="Arial"/>
              </a:defRPr>
            </a:pPr>
            <a:r>
              <a:rPr sz="1275" b="0">
                <a:solidFill>
                  <a:srgbClr val="718591"/>
                </a:solidFill>
                <a:latin typeface="Arial"/>
                <a:ea typeface="Arial"/>
                <a:cs typeface="Arial"/>
              </a:rPr>
              <a:t>03 / GRANTED ROBOTICS</a:t>
            </a:r>
          </a:p>
        </p:txBody>
      </p:sp>
    </p:spTree>
    <p:extLst>
      <p:ext uri="{BB962C8B-B14F-4D97-AF65-F5344CB8AC3E}">
        <p14:creationId xmlns:p14="http://schemas.microsoft.com/office/powerpoint/2010/main" val="227465831"/>
      </p:ext>
    </p:extLst>
  </p:cSld>
</p:sld>
</file>

<file path=ppt/slides/slide4.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47E8F6-45A0-46AD-A50B-EABFD20F2BBF}"/>
              </a:ext>
            </a:extLst>
          </p:cNvPr>
          <p:cNvSpPr>
            <a:spLocks xmlns:a="http://schemas.openxmlformats.org/drawingml/2006/main" noGrp="1"/>
          </p:cNvSpPr>
          <p:nvPr/>
        </p:nvSpPr>
        <p:spPr>
          <a:xfrm xmlns:a="http://schemas.openxmlformats.org/drawingml/2006/main">
            <a:off x="723900" y="5905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83E3B6"/>
                </a:solidFill>
                <a:latin typeface="Arial"/>
                <a:ea typeface="Arial"/>
                <a:cs typeface="Arial"/>
              </a:defRPr>
            </a:pPr>
            <a:r>
              <a:rPr sz="1575" b="1">
                <a:solidFill>
                  <a:srgbClr val="83E3B6"/>
                </a:solidFill>
                <a:latin typeface="Arial"/>
                <a:ea typeface="Arial"/>
                <a:cs typeface="Arial"/>
              </a:rPr>
              <a:t>THE IMPLEMENTATION</a:t>
            </a:r>
          </a:p>
        </p:txBody>
      </p:sp>
      <p:sp>
        <p:nvSpPr>
          <p:cNvPr id="2" name="">
            <a:extLst xmlns:a="http://schemas.openxmlformats.org/drawingml/2006/main">
              <a:ext uri="{FF2B5EF4-FFF2-40B4-BE49-F238E27FC236}">
                <a16:creationId xmlns:a16="http://schemas.microsoft.com/office/drawing/2014/main" id="{3FA86DF0-FAEE-4DA1-B7D6-0690432B97D6}"/>
              </a:ext>
            </a:extLst>
          </p:cNvPr>
          <p:cNvSpPr>
            <a:spLocks xmlns:a="http://schemas.openxmlformats.org/drawingml/2006/main" noGrp="1"/>
          </p:cNvSpPr>
          <p:nvPr/>
        </p:nvSpPr>
        <p:spPr>
          <a:xfrm xmlns:a="http://schemas.openxmlformats.org/drawingml/2006/main">
            <a:off x="685800" y="10668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3F5EF"/>
                </a:solidFill>
                <a:latin typeface="Arial"/>
                <a:ea typeface="Arial"/>
                <a:cs typeface="Arial"/>
              </a:defRPr>
            </a:pPr>
            <a:r>
              <a:rPr sz="3150" b="1">
                <a:solidFill>
                  <a:srgbClr val="F3F5EF"/>
                </a:solidFill>
                <a:latin typeface="Arial"/>
                <a:ea typeface="Arial"/>
                <a:cs typeface="Arial"/>
              </a:rPr>
              <a:t>MuJoCo execution with two SO101 arms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be2672785934f69"/>
          <a:stretch xmlns:a="http://schemas.openxmlformats.org/drawingml/2006/main"/>
        </p:blipFill>
        <p:spPr>
          <a:xfrm xmlns:a="http://schemas.openxmlformats.org/drawingml/2006/main">
            <a:off x="3460750" y="1952625"/>
            <a:ext cx="5270500" cy="3952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54B747F-5ACC-4B7E-B180-1B1533A38B64}"/>
              </a:ext>
            </a:extLst>
          </p:cNvPr>
          <p:cNvSpPr>
            <a:spLocks xmlns:a="http://schemas.openxmlformats.org/drawingml/2006/main" noGrp="1"/>
          </p:cNvSpPr>
          <p:nvPr/>
        </p:nvSpPr>
        <p:spPr>
          <a:xfrm xmlns:a="http://schemas.openxmlformats.org/drawingml/2006/main">
            <a:off x="742950" y="608647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591"/>
                </a:solidFill>
                <a:latin typeface="Arial"/>
                <a:ea typeface="Arial"/>
                <a:cs typeface="Arial"/>
              </a:defRPr>
            </a:pPr>
            <a:r>
              <a:rPr sz="1275" b="0">
                <a:solidFill>
                  <a:srgbClr val="718591"/>
                </a:solidFill>
                <a:latin typeface="Arial"/>
                <a:ea typeface="Arial"/>
                <a:cs typeface="Arial"/>
              </a:rPr>
              <a:t>04 / GRANTED ROBOTICS</a:t>
            </a:r>
          </a:p>
        </p:txBody>
      </p:sp>
    </p:spTree>
    <p:extLst>
      <p:ext uri="{BB962C8B-B14F-4D97-AF65-F5344CB8AC3E}">
        <p14:creationId xmlns:p14="http://schemas.microsoft.com/office/powerpoint/2010/main" val="514127927"/>
      </p:ext>
    </p:extLst>
  </p:cSld>
</p:sld>
</file>

<file path=ppt/slides/slide5.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AF402D-DD5C-42D8-8902-FE3F03B1BDD4}"/>
              </a:ext>
            </a:extLst>
          </p:cNvPr>
          <p:cNvSpPr>
            <a:spLocks xmlns:a="http://schemas.openxmlformats.org/drawingml/2006/main" noGrp="1"/>
          </p:cNvSpPr>
          <p:nvPr/>
        </p:nvSpPr>
        <p:spPr>
          <a:xfrm xmlns:a="http://schemas.openxmlformats.org/drawingml/2006/main">
            <a:off x="723900" y="5905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83E3B6"/>
                </a:solidFill>
                <a:latin typeface="Arial"/>
                <a:ea typeface="Arial"/>
                <a:cs typeface="Arial"/>
              </a:defRPr>
            </a:pPr>
            <a:r>
              <a:rPr sz="1575" b="1">
                <a:solidFill>
                  <a:srgbClr val="83E3B6"/>
                </a:solidFill>
                <a:latin typeface="Arial"/>
                <a:ea typeface="Arial"/>
                <a:cs typeface="Arial"/>
              </a:rPr>
              <a:t>RECORDED MUJOCO EVIDENCE</a:t>
            </a:r>
          </a:p>
        </p:txBody>
      </p:sp>
      <p:sp>
        <p:nvSpPr>
          <p:cNvPr id="2" name="">
            <a:extLst xmlns:a="http://schemas.openxmlformats.org/drawingml/2006/main">
              <a:ext uri="{FF2B5EF4-FFF2-40B4-BE49-F238E27FC236}">
                <a16:creationId xmlns:a16="http://schemas.microsoft.com/office/drawing/2014/main" id="{51E0A365-8BDF-4DD4-B388-3038CBF8A7D4}"/>
              </a:ext>
            </a:extLst>
          </p:cNvPr>
          <p:cNvSpPr>
            <a:spLocks xmlns:a="http://schemas.openxmlformats.org/drawingml/2006/main" noGrp="1"/>
          </p:cNvSpPr>
          <p:nvPr/>
        </p:nvSpPr>
        <p:spPr>
          <a:xfrm xmlns:a="http://schemas.openxmlformats.org/drawingml/2006/main">
            <a:off x="685800" y="136207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3F5EF"/>
                </a:solidFill>
                <a:latin typeface="Arial"/>
                <a:ea typeface="Arial"/>
                <a:cs typeface="Arial"/>
              </a:defRPr>
            </a:pPr>
            <a:r>
              <a:rPr sz="4650" b="1">
                <a:solidFill>
                  <a:srgbClr val="F3F5EF"/>
                </a:solidFill>
                <a:latin typeface="Arial"/>
                <a:ea typeface="Arial"/>
                <a:cs typeface="Arial"/>
              </a:rPr>
              <a:t>Recovery changed</a:t>
            </a:r>
          </a:p>
          <a:p xmlns:a="http://schemas.openxmlformats.org/drawingml/2006/main">
            <a:pPr>
              <a:defRPr sz="4650" b="1">
                <a:solidFill>
                  <a:srgbClr val="F3F5EF"/>
                </a:solidFill>
                <a:latin typeface="Arial"/>
                <a:ea typeface="Arial"/>
                <a:cs typeface="Arial"/>
              </a:defRPr>
            </a:pPr>
            <a:r>
              <a:rPr sz="4650" b="1">
                <a:solidFill>
                  <a:srgbClr val="F3F5EF"/>
                </a:solidFill>
                <a:latin typeface="Arial"/>
                <a:ea typeface="Arial"/>
                <a:cs typeface="Arial"/>
              </a:rPr>
              <a:t>the outcome</a:t>
            </a:r>
          </a:p>
        </p:txBody>
      </p:sp>
      <p:sp>
        <p:nvSpPr>
          <p:cNvPr id="3" name="">
            <a:extLst xmlns:a="http://schemas.openxmlformats.org/drawingml/2006/main">
              <a:ext uri="{FF2B5EF4-FFF2-40B4-BE49-F238E27FC236}">
                <a16:creationId xmlns:a16="http://schemas.microsoft.com/office/drawing/2014/main" id="{EBD5621D-110C-47F2-A12F-CE423139B10F}"/>
              </a:ext>
            </a:extLst>
          </p:cNvPr>
          <p:cNvSpPr>
            <a:spLocks xmlns:a="http://schemas.openxmlformats.org/drawingml/2006/main" noGrp="1"/>
          </p:cNvSpPr>
          <p:nvPr/>
        </p:nvSpPr>
        <p:spPr>
          <a:xfrm xmlns:a="http://schemas.openxmlformats.org/drawingml/2006/main">
            <a:off x="742950" y="3552825"/>
            <a:ext cx="10287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Grip loss, across 10 randomized seeds</a:t>
            </a:r>
          </a:p>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With recovery: 10 / 10 completed</a:t>
            </a:r>
          </a:p>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Without recovery: 0 / 10 completed</a:t>
            </a:r>
          </a:p>
          <a:p xmlns:a="http://schemas.openxmlformats.org/drawingml/2006/main">
            <a:r>
              <a:t/>
            </a:r>
          </a:p>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50 simulation runs. Local Apple CPU.</a:t>
            </a:r>
          </a:p>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No Intel Core Ultra hardware claim.</a:t>
            </a:r>
          </a:p>
        </p:txBody>
      </p:sp>
      <p:sp>
        <p:nvSpPr>
          <p:cNvPr id="4" name="">
            <a:extLst xmlns:a="http://schemas.openxmlformats.org/drawingml/2006/main">
              <a:ext uri="{FF2B5EF4-FFF2-40B4-BE49-F238E27FC236}">
                <a16:creationId xmlns:a16="http://schemas.microsoft.com/office/drawing/2014/main" id="{9F808CDE-A3A9-4BB1-BBBD-7B8CDE7ECFFD}"/>
              </a:ext>
            </a:extLst>
          </p:cNvPr>
          <p:cNvSpPr>
            <a:spLocks xmlns:a="http://schemas.openxmlformats.org/drawingml/2006/main" noGrp="1"/>
          </p:cNvSpPr>
          <p:nvPr/>
        </p:nvSpPr>
        <p:spPr>
          <a:xfrm xmlns:a="http://schemas.openxmlformats.org/drawingml/2006/main">
            <a:off x="742950" y="608647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591"/>
                </a:solidFill>
                <a:latin typeface="Arial"/>
                <a:ea typeface="Arial"/>
                <a:cs typeface="Arial"/>
              </a:defRPr>
            </a:pPr>
            <a:r>
              <a:rPr sz="1275" b="0">
                <a:solidFill>
                  <a:srgbClr val="718591"/>
                </a:solidFill>
                <a:latin typeface="Arial"/>
                <a:ea typeface="Arial"/>
                <a:cs typeface="Arial"/>
              </a:rPr>
              <a:t>05 / GRANTED ROBOTICS</a:t>
            </a:r>
          </a:p>
        </p:txBody>
      </p:sp>
    </p:spTree>
    <p:extLst>
      <p:ext uri="{BB962C8B-B14F-4D97-AF65-F5344CB8AC3E}">
        <p14:creationId xmlns:p14="http://schemas.microsoft.com/office/powerpoint/2010/main" val="1476018312"/>
      </p:ext>
    </p:extLst>
  </p:cSld>
</p:sld>
</file>

<file path=ppt/slides/slide6.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FDDC84-44CE-4D86-9E43-1D60855AA130}"/>
              </a:ext>
            </a:extLst>
          </p:cNvPr>
          <p:cNvSpPr>
            <a:spLocks xmlns:a="http://schemas.openxmlformats.org/drawingml/2006/main" noGrp="1"/>
          </p:cNvSpPr>
          <p:nvPr/>
        </p:nvSpPr>
        <p:spPr>
          <a:xfrm xmlns:a="http://schemas.openxmlformats.org/drawingml/2006/main">
            <a:off x="723900" y="5905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83E3B6"/>
                </a:solidFill>
                <a:latin typeface="Arial"/>
                <a:ea typeface="Arial"/>
                <a:cs typeface="Arial"/>
              </a:defRPr>
            </a:pPr>
            <a:r>
              <a:rPr sz="1575" b="1">
                <a:solidFill>
                  <a:srgbClr val="83E3B6"/>
                </a:solidFill>
                <a:latin typeface="Arial"/>
                <a:ea typeface="Arial"/>
                <a:cs typeface="Arial"/>
              </a:rPr>
              <a:t>THE BUSINESS</a:t>
            </a:r>
          </a:p>
        </p:txBody>
      </p:sp>
      <p:sp>
        <p:nvSpPr>
          <p:cNvPr id="2" name="">
            <a:extLst xmlns:a="http://schemas.openxmlformats.org/drawingml/2006/main">
              <a:ext uri="{FF2B5EF4-FFF2-40B4-BE49-F238E27FC236}">
                <a16:creationId xmlns:a16="http://schemas.microsoft.com/office/drawing/2014/main" id="{0C2B666F-9756-4912-AA69-32BA5CBC8D72}"/>
              </a:ext>
            </a:extLst>
          </p:cNvPr>
          <p:cNvSpPr>
            <a:spLocks xmlns:a="http://schemas.openxmlformats.org/drawingml/2006/main" noGrp="1"/>
          </p:cNvSpPr>
          <p:nvPr/>
        </p:nvSpPr>
        <p:spPr>
          <a:xfrm xmlns:a="http://schemas.openxmlformats.org/drawingml/2006/main">
            <a:off x="685800" y="136207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3F5EF"/>
                </a:solidFill>
                <a:latin typeface="Arial"/>
                <a:ea typeface="Arial"/>
                <a:cs typeface="Arial"/>
              </a:defRPr>
            </a:pPr>
            <a:r>
              <a:rPr sz="4650" b="1">
                <a:solidFill>
                  <a:srgbClr val="F3F5EF"/>
                </a:solidFill>
                <a:latin typeface="Arial"/>
                <a:ea typeface="Arial"/>
                <a:cs typeface="Arial"/>
              </a:rPr>
              <a:t>Less time reproducing</a:t>
            </a:r>
          </a:p>
          <a:p xmlns:a="http://schemas.openxmlformats.org/drawingml/2006/main">
            <a:pPr>
              <a:defRPr sz="4650" b="1">
                <a:solidFill>
                  <a:srgbClr val="F3F5EF"/>
                </a:solidFill>
                <a:latin typeface="Arial"/>
                <a:ea typeface="Arial"/>
                <a:cs typeface="Arial"/>
              </a:defRPr>
            </a:pPr>
            <a:r>
              <a:rPr sz="4650" b="1">
                <a:solidFill>
                  <a:srgbClr val="F3F5EF"/>
                </a:solidFill>
                <a:latin typeface="Arial"/>
                <a:ea typeface="Arial"/>
                <a:cs typeface="Arial"/>
              </a:rPr>
              <a:t>the same failure</a:t>
            </a:r>
          </a:p>
        </p:txBody>
      </p:sp>
      <p:sp>
        <p:nvSpPr>
          <p:cNvPr id="3" name="">
            <a:extLst xmlns:a="http://schemas.openxmlformats.org/drawingml/2006/main">
              <a:ext uri="{FF2B5EF4-FFF2-40B4-BE49-F238E27FC236}">
                <a16:creationId xmlns:a16="http://schemas.microsoft.com/office/drawing/2014/main" id="{600773DA-1909-4198-B1DD-01A1ACE51CDF}"/>
              </a:ext>
            </a:extLst>
          </p:cNvPr>
          <p:cNvSpPr>
            <a:spLocks xmlns:a="http://schemas.openxmlformats.org/drawingml/2006/main" noGrp="1"/>
          </p:cNvSpPr>
          <p:nvPr/>
        </p:nvSpPr>
        <p:spPr>
          <a:xfrm xmlns:a="http://schemas.openxmlformats.org/drawingml/2006/main">
            <a:off x="742950" y="3552825"/>
            <a:ext cx="10287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First customer: robotics integrators</a:t>
            </a:r>
          </a:p>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First pilot: one task and its recurring faults</a:t>
            </a:r>
          </a:p>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Success measure: time to diagnose a regression</a:t>
            </a:r>
          </a:p>
        </p:txBody>
      </p:sp>
      <p:sp>
        <p:nvSpPr>
          <p:cNvPr id="4" name="">
            <a:extLst xmlns:a="http://schemas.openxmlformats.org/drawingml/2006/main">
              <a:ext uri="{FF2B5EF4-FFF2-40B4-BE49-F238E27FC236}">
                <a16:creationId xmlns:a16="http://schemas.microsoft.com/office/drawing/2014/main" id="{23F31207-B5D5-4E12-9872-A993ADF98BD6}"/>
              </a:ext>
            </a:extLst>
          </p:cNvPr>
          <p:cNvSpPr>
            <a:spLocks xmlns:a="http://schemas.openxmlformats.org/drawingml/2006/main" noGrp="1"/>
          </p:cNvSpPr>
          <p:nvPr/>
        </p:nvSpPr>
        <p:spPr>
          <a:xfrm xmlns:a="http://schemas.openxmlformats.org/drawingml/2006/main">
            <a:off x="742950" y="608647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18591"/>
                </a:solidFill>
                <a:latin typeface="Arial"/>
                <a:ea typeface="Arial"/>
                <a:cs typeface="Arial"/>
              </a:defRPr>
            </a:pPr>
            <a:r>
              <a:rPr sz="1275" b="0">
                <a:solidFill>
                  <a:srgbClr val="718591"/>
                </a:solidFill>
                <a:latin typeface="Arial"/>
                <a:ea typeface="Arial"/>
                <a:cs typeface="Arial"/>
              </a:rPr>
              <a:t>06 / GRANTED ROBOTICS</a:t>
            </a:r>
          </a:p>
        </p:txBody>
      </p:sp>
    </p:spTree>
    <p:extLst>
      <p:ext uri="{BB962C8B-B14F-4D97-AF65-F5344CB8AC3E}">
        <p14:creationId xmlns:p14="http://schemas.microsoft.com/office/powerpoint/2010/main" val="219479688"/>
      </p:ext>
    </p:extLst>
  </p:cSld>
</p:sld>
</file>

<file path=ppt/slides/slide7.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346E6B6-79AF-40E7-B2C4-9A89B1EF63BE}"/>
              </a:ext>
            </a:extLst>
          </p:cNvPr>
          <p:cNvSpPr>
            <a:spLocks xmlns:a="http://schemas.openxmlformats.org/drawingml/2006/main" noGrp="1"/>
          </p:cNvSpPr>
          <p:nvPr/>
        </p:nvSpPr>
        <p:spPr>
          <a:xfrm xmlns:a="http://schemas.openxmlformats.org/drawingml/2006/main">
            <a:off x="723900" y="5905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83E3B6"/>
                </a:solidFill>
                <a:latin typeface="Arial"/>
                <a:ea typeface="Arial"/>
                <a:cs typeface="Arial"/>
              </a:defRPr>
            </a:pPr>
            <a:r>
              <a:rPr sz="1575" b="1">
                <a:solidFill>
                  <a:srgbClr val="83E3B6"/>
                </a:solidFill>
                <a:latin typeface="Arial"/>
                <a:ea typeface="Arial"/>
                <a:cs typeface="Arial"/>
              </a:rPr>
              <a:t>GRANTED ROBOTICS</a:t>
            </a:r>
          </a:p>
        </p:txBody>
      </p:sp>
      <p:sp>
        <p:nvSpPr>
          <p:cNvPr id="2" name="">
            <a:extLst xmlns:a="http://schemas.openxmlformats.org/drawingml/2006/main">
              <a:ext uri="{FF2B5EF4-FFF2-40B4-BE49-F238E27FC236}">
                <a16:creationId xmlns:a16="http://schemas.microsoft.com/office/drawing/2014/main" id="{CC0ACDC5-FA05-4FD1-B7E8-A633CD8F8264}"/>
              </a:ext>
            </a:extLst>
          </p:cNvPr>
          <p:cNvSpPr>
            <a:spLocks xmlns:a="http://schemas.openxmlformats.org/drawingml/2006/main" noGrp="1"/>
          </p:cNvSpPr>
          <p:nvPr/>
        </p:nvSpPr>
        <p:spPr>
          <a:xfrm xmlns:a="http://schemas.openxmlformats.org/drawingml/2006/main">
            <a:off x="685800" y="1362075"/>
            <a:ext cx="10668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3F5EF"/>
                </a:solidFill>
                <a:latin typeface="Arial"/>
                <a:ea typeface="Arial"/>
                <a:cs typeface="Arial"/>
              </a:defRPr>
            </a:pPr>
            <a:r>
              <a:rPr sz="4650" b="1">
                <a:solidFill>
                  <a:srgbClr val="F3F5EF"/>
                </a:solidFill>
                <a:latin typeface="Arial"/>
                <a:ea typeface="Arial"/>
                <a:cs typeface="Arial"/>
              </a:rPr>
              <a:t>Before the next action,</a:t>
            </a:r>
          </a:p>
          <a:p xmlns:a="http://schemas.openxmlformats.org/drawingml/2006/main">
            <a:pPr>
              <a:defRPr sz="4650" b="1">
                <a:solidFill>
                  <a:srgbClr val="F3F5EF"/>
                </a:solidFill>
                <a:latin typeface="Arial"/>
                <a:ea typeface="Arial"/>
                <a:cs typeface="Arial"/>
              </a:defRPr>
            </a:pPr>
            <a:r>
              <a:rPr sz="4650" b="1">
                <a:solidFill>
                  <a:srgbClr val="F3F5EF"/>
                </a:solidFill>
                <a:latin typeface="Arial"/>
                <a:ea typeface="Arial"/>
                <a:cs typeface="Arial"/>
              </a:rPr>
              <a:t>show the evidence</a:t>
            </a:r>
          </a:p>
        </p:txBody>
      </p:sp>
      <p:sp>
        <p:nvSpPr>
          <p:cNvPr id="3" name="">
            <a:extLst xmlns:a="http://schemas.openxmlformats.org/drawingml/2006/main">
              <a:ext uri="{FF2B5EF4-FFF2-40B4-BE49-F238E27FC236}">
                <a16:creationId xmlns:a16="http://schemas.microsoft.com/office/drawing/2014/main" id="{AB2090E7-A20C-4B76-9217-A527D8E89547}"/>
              </a:ext>
            </a:extLst>
          </p:cNvPr>
          <p:cNvSpPr>
            <a:spLocks xmlns:a="http://schemas.openxmlformats.org/drawingml/2006/main" noGrp="1"/>
          </p:cNvSpPr>
          <p:nvPr/>
        </p:nvSpPr>
        <p:spPr>
          <a:xfrm xmlns:a="http://schemas.openxmlformats.org/drawingml/2006/main">
            <a:off x="742950" y="3552825"/>
            <a:ext cx="10287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granted-robotics.web.app</a:t>
            </a:r>
          </a:p>
          <a:p xmlns:a="http://schemas.openxmlformats.org/drawingml/2006/main">
            <a:r>
              <a:t/>
            </a:r>
          </a:p>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Explore the workbench.</a:t>
            </a:r>
          </a:p>
          <a:p xmlns:a="http://schemas.openxmlformats.org/drawingml/2006/main">
            <a:pPr>
              <a:defRPr sz="2325" b="0">
                <a:solidFill>
                  <a:srgbClr val="BBC9D2"/>
                </a:solidFill>
                <a:latin typeface="Arial"/>
                <a:ea typeface="Arial"/>
                <a:cs typeface="Arial"/>
              </a:defRPr>
            </a:pPr>
            <a:r>
              <a:rPr sz="2325" b="0">
                <a:solidFill>
                  <a:srgbClr val="BBC9D2"/>
                </a:solidFill>
                <a:latin typeface="Arial"/>
                <a:ea typeface="Arial"/>
                <a:cs typeface="Arial"/>
              </a:rPr>
              <a:t>Reproduce the simulation.</a:t>
            </a:r>
          </a:p>
        </p:txBody>
      </p:sp>
      <p:sp>
        <p:nvSpPr>
          <p:cNvPr id="4" name="">
            <a:extLst xmlns:a="http://schemas.openxmlformats.org/drawingml/2006/main">
              <a:ext uri="{FF2B5EF4-FFF2-40B4-BE49-F238E27FC236}">
                <a16:creationId xmlns:a16="http://schemas.microsoft.com/office/drawing/2014/main" id="{6D1CDC57-20CB-4C63-9458-8AC480F391CE}"/>
              </a:ext>
            </a:extLst>
          </p:cNvPr>
          <p:cNvSpPr>
            <a:spLocks xmlns:a="http://schemas.openxmlformats.org/drawingml/2006/main" noGrp="1"/>
          </p:cNvSpPr>
          <p:nvPr/>
        </p:nvSpPr>
        <p:spPr>
          <a:xfrm xmlns:a="http://schemas.openxmlformats.org/drawingml/2006/main">
            <a:off x="742950" y="60864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83E3B6"/>
                </a:solidFill>
                <a:latin typeface="Arial"/>
                <a:ea typeface="Arial"/>
                <a:cs typeface="Arial"/>
              </a:defRPr>
            </a:pPr>
            <a:r>
              <a:rPr sz="1425" b="0">
                <a:solidFill>
                  <a:srgbClr val="83E3B6"/>
                </a:solidFill>
                <a:latin typeface="Arial"/>
                <a:ea typeface="Arial"/>
                <a:cs typeface="Arial"/>
              </a:rPr>
              <a:t>Created by Shivam Gupta  /  MIT licensed</a:t>
            </a:r>
          </a:p>
        </p:txBody>
      </p:sp>
    </p:spTree>
    <p:extLst>
      <p:ext uri="{BB962C8B-B14F-4D97-AF65-F5344CB8AC3E}">
        <p14:creationId xmlns:p14="http://schemas.microsoft.com/office/powerpoint/2010/main" val="12751647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2026-09-16T17:52:46.7970000Z</dcterms:created>
  <dcterms:modified xsi:type="dcterms:W3CDTF">2026-09-16T17:52:46.7970000Z</dcterms:modified>
</coreProperties>
</file>